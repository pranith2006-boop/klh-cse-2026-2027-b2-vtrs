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62" r:id="rId3"/>
    <p:sldId id="707" r:id="rId4"/>
    <p:sldId id="257" r:id="rId5"/>
    <p:sldId id="903" r:id="rId6"/>
    <p:sldId id="902" r:id="rId7"/>
    <p:sldId id="258" r:id="rId8"/>
    <p:sldId id="259" r:id="rId9"/>
    <p:sldId id="26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nith Reddy Modalla" userId="73f7e58376f7ff97" providerId="LiveId" clId="{C12DDF46-77FD-4063-B125-4A4850AAFA1F}"/>
    <pc:docChg chg="modSld sldOrd">
      <pc:chgData name="Pranith Reddy Modalla" userId="73f7e58376f7ff97" providerId="LiveId" clId="{C12DDF46-77FD-4063-B125-4A4850AAFA1F}" dt="2026-08-28T04:13:19.699" v="29" actId="20577"/>
      <pc:docMkLst>
        <pc:docMk/>
      </pc:docMkLst>
      <pc:sldChg chg="modSp mod">
        <pc:chgData name="Pranith Reddy Modalla" userId="73f7e58376f7ff97" providerId="LiveId" clId="{C12DDF46-77FD-4063-B125-4A4850AAFA1F}" dt="2026-08-28T04:13:19.699" v="29" actId="20577"/>
        <pc:sldMkLst>
          <pc:docMk/>
          <pc:sldMk cId="4118855268" sldId="260"/>
        </pc:sldMkLst>
        <pc:graphicFrameChg chg="modGraphic">
          <ac:chgData name="Pranith Reddy Modalla" userId="73f7e58376f7ff97" providerId="LiveId" clId="{C12DDF46-77FD-4063-B125-4A4850AAFA1F}" dt="2026-08-28T04:13:19.699" v="29" actId="20577"/>
          <ac:graphicFrameMkLst>
            <pc:docMk/>
            <pc:sldMk cId="4118855268" sldId="260"/>
            <ac:graphicFrameMk id="3" creationId="{A45D2461-0F44-F783-D99B-E7B04CFF2B4A}"/>
          </ac:graphicFrameMkLst>
        </pc:graphicFrameChg>
      </pc:sldChg>
      <pc:sldChg chg="ord">
        <pc:chgData name="Pranith Reddy Modalla" userId="73f7e58376f7ff97" providerId="LiveId" clId="{C12DDF46-77FD-4063-B125-4A4850AAFA1F}" dt="2026-08-28T04:12:58.424" v="1"/>
        <pc:sldMkLst>
          <pc:docMk/>
          <pc:sldMk cId="2247602601" sldId="262"/>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B03022-1F30-4885-B78F-22C04F8A973E}" type="doc">
      <dgm:prSet loTypeId="urn:microsoft.com/office/officeart/2005/8/layout/venn3" loCatId="relationship" qsTypeId="urn:microsoft.com/office/officeart/2005/8/quickstyle/3d7#1" qsCatId="3D" csTypeId="urn:microsoft.com/office/officeart/2005/8/colors/colorful1#1" csCatId="colorful" phldr="1"/>
      <dgm:spPr/>
      <dgm:t>
        <a:bodyPr/>
        <a:lstStyle/>
        <a:p>
          <a:endParaRPr lang="en-IN"/>
        </a:p>
      </dgm:t>
    </dgm:pt>
    <dgm:pt modelId="{4094C340-BA43-4FE7-BEDC-37D235AAAD16}" type="pres">
      <dgm:prSet presAssocID="{84B03022-1F30-4885-B78F-22C04F8A973E}" presName="Name0" presStyleCnt="0">
        <dgm:presLayoutVars>
          <dgm:dir/>
          <dgm:resizeHandles val="exact"/>
        </dgm:presLayoutVars>
      </dgm:prSet>
      <dgm:spPr/>
    </dgm:pt>
  </dgm:ptLst>
  <dgm:cxnLst>
    <dgm:cxn modelId="{536B444D-E965-4C7A-901B-8D59695FE972}" type="presOf" srcId="{84B03022-1F30-4885-B78F-22C04F8A973E}" destId="{4094C340-BA43-4FE7-BEDC-37D235AAAD16}" srcOrd="0" destOrd="0" presId="urn:microsoft.com/office/officeart/2005/8/layout/ven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enn3">
  <dgm:title val=""/>
  <dgm:desc val=""/>
  <dgm:catLst>
    <dgm:cat type="relationship" pri="2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fallback" val="2D"/>
        </dgm:alg>
      </dgm:if>
      <dgm:else name="Name3">
        <dgm:alg type="lin">
          <dgm:param type="fallback" val="2D"/>
          <dgm:param type="linDir" val="fromR"/>
        </dgm:alg>
      </dgm:else>
    </dgm:choose>
    <dgm:shape xmlns:r="http://schemas.openxmlformats.org/officeDocument/2006/relationships" r:blip="">
      <dgm:adjLst/>
    </dgm:shape>
    <dgm:presOf/>
    <dgm:constrLst>
      <dgm:constr type="w" for="ch" ptType="node" refType="w"/>
      <dgm:constr type="h" for="ch" ptType="node" refType="w" refFor="ch" refPtType="node"/>
      <dgm:constr type="w" for="ch" forName="space" refType="w" refFor="ch" refPtType="node" fact="-0.2"/>
      <dgm:constr type="primFontSz" for="ch" ptType="node" op="equ" val="65"/>
    </dgm:constrLst>
    <dgm:ruleLst/>
    <dgm:forEach name="Name4" axis="ch" ptType="node">
      <dgm:layoutNode name="Name5" styleLbl="vennNode1">
        <dgm:varLst>
          <dgm:bulletEnabled val="1"/>
        </dgm:varLst>
        <dgm:alg type="tx">
          <dgm:param type="txAnchorVertCh" val="mid"/>
          <dgm:param type="txAnchorHorzCh" val="ctr"/>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w" fact="0.156"/>
          <dgm:constr type="rMarg" refType="w" fact="0.156"/>
        </dgm:constrLst>
        <dgm:ruleLst>
          <dgm:rule type="primFontSz" val="5" fact="NaN" max="NaN"/>
        </dgm:ruleLst>
      </dgm:layoutNode>
      <dgm:forEach name="Name6"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1">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666E0-C270-4F2D-A5DC-96BE795B540E}"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19044B-B5AF-477C-950C-4ED51263438D}" type="slidenum">
              <a:rPr lang="en-US" smtClean="0"/>
              <a:t>‹#›</a:t>
            </a:fld>
            <a:endParaRPr lang="en-US"/>
          </a:p>
        </p:txBody>
      </p:sp>
    </p:spTree>
    <p:extLst>
      <p:ext uri="{BB962C8B-B14F-4D97-AF65-F5344CB8AC3E}">
        <p14:creationId xmlns:p14="http://schemas.microsoft.com/office/powerpoint/2010/main" val="2208606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F84AE20-9EAE-4BB7-93AC-7EFA05BCA1CF}" type="slidenum">
              <a:rPr lang="en-IN" smtClean="0"/>
              <a:t>1</a:t>
            </a:fld>
            <a:endParaRPr lang="en-IN" dirty="0"/>
          </a:p>
        </p:txBody>
      </p:sp>
    </p:spTree>
    <p:extLst>
      <p:ext uri="{BB962C8B-B14F-4D97-AF65-F5344CB8AC3E}">
        <p14:creationId xmlns:p14="http://schemas.microsoft.com/office/powerpoint/2010/main" val="2227473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3</a:t>
            </a:fld>
            <a:endParaRPr lang="en-US"/>
          </a:p>
        </p:txBody>
      </p:sp>
    </p:spTree>
    <p:extLst>
      <p:ext uri="{BB962C8B-B14F-4D97-AF65-F5344CB8AC3E}">
        <p14:creationId xmlns:p14="http://schemas.microsoft.com/office/powerpoint/2010/main" val="99976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162C7A-CC9D-4035-A213-68F795EB7A2A}" type="slidenum">
              <a:rPr lang="en-IN" smtClean="0"/>
              <a:t>5</a:t>
            </a:fld>
            <a:endParaRPr lang="en-IN"/>
          </a:p>
        </p:txBody>
      </p:sp>
    </p:spTree>
    <p:extLst>
      <p:ext uri="{BB962C8B-B14F-4D97-AF65-F5344CB8AC3E}">
        <p14:creationId xmlns:p14="http://schemas.microsoft.com/office/powerpoint/2010/main" val="1647703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BE77-A6B4-BF9A-F59F-6A1C17E6D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F4D497-63DE-C270-40A4-331A37D0B0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7809C3A-1739-D230-186B-84454F605084}"/>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F5A63778-C058-1235-D3A3-7BCFF3CD01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9A1708-DD63-B8A6-CDE5-A057B2CF873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4086997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0280-1254-E679-102E-D8CC13C8C6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784D78-2E62-1C74-D557-5115FDC295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B02B77-F303-2F09-80CB-35B74D2F58C9}"/>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A13359BF-B012-085F-389A-331E721BC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0460-9CE8-D43D-79E7-A7A9144A3AD0}"/>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6301623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87D46-3DEF-526E-5F46-4ADACBEC0A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55A517A-D5B3-3AF2-38BE-1D89988138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602125-0289-3272-156D-A3C31E84825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659971A6-CC5A-CC09-A1F2-E284284E8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9898D5-FC90-9DA1-FE2F-D07DEDDAD616}"/>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039952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9433-0D52-95EF-D78E-4FC912D4FC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1A2DAE-6EF3-6910-5373-1A5DF4090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91AE70-38B9-B797-DE71-57CAE4C82D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25E50E-F402-07A4-460F-3431CA99923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664D7A32-7B4B-0167-CBD3-4FB4F42F7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EB928D-DF00-B9C5-1A36-1E52C14CBBB7}"/>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467198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CFE06-EEED-5CC3-A38A-576DD2C8AF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B0BA8C-9EDE-BB49-BD35-49BAFCB8D3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1DDD39-7D2C-4493-F56F-81F6BC3F98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14469B-6213-D34D-07A9-FCDC82AC0F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6440F3-3F2D-85CC-D2E2-6D0D54B8A2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D346DE1-9818-60AF-EAF8-FFED39BA5E89}"/>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8" name="Footer Placeholder 7">
            <a:extLst>
              <a:ext uri="{FF2B5EF4-FFF2-40B4-BE49-F238E27FC236}">
                <a16:creationId xmlns:a16="http://schemas.microsoft.com/office/drawing/2014/main" id="{265E9E00-6460-F360-EDFD-B03FBA2C63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BFFDD7-5BFE-EA3B-6250-A381A569564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362514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CE0FC-511C-2C2C-E510-CDDF263418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96671-3C71-777F-3A4D-A89D7E5D68FA}"/>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4" name="Footer Placeholder 3">
            <a:extLst>
              <a:ext uri="{FF2B5EF4-FFF2-40B4-BE49-F238E27FC236}">
                <a16:creationId xmlns:a16="http://schemas.microsoft.com/office/drawing/2014/main" id="{30024A6A-95A8-2753-339B-FC09D4CAEB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9E07AF-B1A0-E180-D5AC-3F2F0031C98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182466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527A8-9BA5-6E6B-9B96-E6F6FADC46A2}"/>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3" name="Footer Placeholder 2">
            <a:extLst>
              <a:ext uri="{FF2B5EF4-FFF2-40B4-BE49-F238E27FC236}">
                <a16:creationId xmlns:a16="http://schemas.microsoft.com/office/drawing/2014/main" id="{4EAB8C98-6C07-7CF9-228C-EF7E651474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347070-DD15-038E-31F6-EF9EAD920E5F}"/>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48321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28049-15BD-A06B-510D-51342C765D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B77F51D-EFF8-F91B-8F7D-613493BF84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443686E-4EC3-3B25-F2B1-DEF00AA476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24C9A3-A390-80A1-50AD-21AB6B252580}"/>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E83FB16C-3A67-2F8D-2205-B1FF3BE2C6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137A69-0E62-6668-A184-42A6DBF6B07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08948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AFB01-3CD4-CFD9-5A71-411262FAAC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DCEFF8-AB3F-42A6-ADAF-1080336CCB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914F7C-5D5A-7C5D-50F2-B5067E1E61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E767C3-2493-217A-8E1D-03F6BBB4ACBD}"/>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6" name="Footer Placeholder 5">
            <a:extLst>
              <a:ext uri="{FF2B5EF4-FFF2-40B4-BE49-F238E27FC236}">
                <a16:creationId xmlns:a16="http://schemas.microsoft.com/office/drawing/2014/main" id="{348FEBF7-64BD-7F85-1240-C02E3705BD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064DB1-56E3-B1C9-BED9-904A25C29434}"/>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212973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CD61-B1C9-A34D-6022-ADB9D4B22C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24F7E8-10E7-E6C8-474D-2A06ED501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E7D405-5D32-C40F-1430-5F5A97DD4FAF}"/>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7BD9955A-6D2E-8ABB-AF09-EC9590F01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9E1B21-A5D1-C625-FE7B-A0232576A69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917886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699036-2042-AC93-5117-4059611F3CE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2DD23D-712F-710C-F8D8-B4B2B3E059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095516-E45F-6DA1-08EA-04E781DF5CCB}"/>
              </a:ext>
            </a:extLst>
          </p:cNvPr>
          <p:cNvSpPr>
            <a:spLocks noGrp="1"/>
          </p:cNvSpPr>
          <p:nvPr>
            <p:ph type="dt" sz="half" idx="10"/>
          </p:nvPr>
        </p:nvSpPr>
        <p:spPr/>
        <p:txBody>
          <a:body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8B171DB9-D5C7-9EFA-0532-06B0BAAF41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35D92-5A89-BE34-CC33-93F56B3EDB49}"/>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387349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1F6EA6A-8FF5-49DF-BDDD-F7431B447D8F}"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080860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411EB6-9770-43AB-BBCE-044F1DB66B82}"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3482983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DC905DC-9CDD-41AE-979C-F366BC0443ED}"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739923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4FAC05-A025-4B8A-AB88-2AE8812F8A48}"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719083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87906D5-6813-455D-BAA0-28A983958C32}" type="datetime3">
              <a:rPr lang="en-US" smtClean="0"/>
              <a:t>28 August 2026</a:t>
            </a:fld>
            <a:endParaRPr lang="en-IN"/>
          </a:p>
        </p:txBody>
      </p:sp>
      <p:sp>
        <p:nvSpPr>
          <p:cNvPr id="8" name="Footer Placeholder 7"/>
          <p:cNvSpPr>
            <a:spLocks noGrp="1"/>
          </p:cNvSpPr>
          <p:nvPr>
            <p:ph type="ftr" sz="quarter" idx="11"/>
          </p:nvPr>
        </p:nvSpPr>
        <p:spPr/>
        <p:txBody>
          <a:bodyPr/>
          <a:lstStyle/>
          <a:p>
            <a:r>
              <a:rPr lang="en-IN"/>
              <a:t>Ph.D. Viva Voce</a:t>
            </a:r>
          </a:p>
        </p:txBody>
      </p:sp>
      <p:sp>
        <p:nvSpPr>
          <p:cNvPr id="9" name="Slide Number Placeholder 8"/>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578485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F4309C4-DF5F-4FAA-9214-A2117415D598}" type="datetime3">
              <a:rPr lang="en-US" smtClean="0"/>
              <a:t>28 August 2026</a:t>
            </a:fld>
            <a:endParaRPr lang="en-IN"/>
          </a:p>
        </p:txBody>
      </p:sp>
      <p:sp>
        <p:nvSpPr>
          <p:cNvPr id="4" name="Footer Placeholder 3"/>
          <p:cNvSpPr>
            <a:spLocks noGrp="1"/>
          </p:cNvSpPr>
          <p:nvPr>
            <p:ph type="ftr" sz="quarter" idx="11"/>
          </p:nvPr>
        </p:nvSpPr>
        <p:spPr/>
        <p:txBody>
          <a:bodyPr/>
          <a:lstStyle/>
          <a:p>
            <a:r>
              <a:rPr lang="en-IN"/>
              <a:t>Ph.D. Viva Voce</a:t>
            </a:r>
          </a:p>
        </p:txBody>
      </p:sp>
      <p:sp>
        <p:nvSpPr>
          <p:cNvPr id="5" name="Slide Number Placeholder 4"/>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733884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683E30-D762-4164-BBF9-9799116ED611}" type="datetime3">
              <a:rPr lang="en-US" smtClean="0"/>
              <a:t>28 August 2026</a:t>
            </a:fld>
            <a:endParaRPr lang="en-IN"/>
          </a:p>
        </p:txBody>
      </p:sp>
      <p:sp>
        <p:nvSpPr>
          <p:cNvPr id="3" name="Footer Placeholder 2"/>
          <p:cNvSpPr>
            <a:spLocks noGrp="1"/>
          </p:cNvSpPr>
          <p:nvPr>
            <p:ph type="ftr" sz="quarter" idx="11"/>
          </p:nvPr>
        </p:nvSpPr>
        <p:spPr/>
        <p:txBody>
          <a:bodyPr/>
          <a:lstStyle/>
          <a:p>
            <a:r>
              <a:rPr lang="en-IN"/>
              <a:t>Ph.D. Viva Voce</a:t>
            </a:r>
          </a:p>
        </p:txBody>
      </p:sp>
      <p:sp>
        <p:nvSpPr>
          <p:cNvPr id="4" name="Slide Number Placeholder 3"/>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671886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EEB4AA-F6FE-4EF1-9FE6-D5606E858D35}"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474917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7B547F9-D0DE-4919-BAA4-23065C38E70B}" type="datetime3">
              <a:rPr lang="en-US" smtClean="0"/>
              <a:t>28 August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0463319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0D9772-7494-4C65-A0D8-1FBD740B2E65}"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3075840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B089DC-0019-49C7-8AD2-EF5D896393D8}" type="datetime3">
              <a:rPr lang="en-US" smtClean="0"/>
              <a:t>28 August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204595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711898-360B-AD49-DD62-FA3B7B6626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A2BE89-A274-4461-2B81-5058744631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4B2A70-C1DC-D783-67E1-97822E79A5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27863A-4956-4659-9192-3D74DA4F7578}" type="datetimeFigureOut">
              <a:rPr lang="en-US" smtClean="0"/>
              <a:t>8/28/2026</a:t>
            </a:fld>
            <a:endParaRPr lang="en-US"/>
          </a:p>
        </p:txBody>
      </p:sp>
      <p:sp>
        <p:nvSpPr>
          <p:cNvPr id="5" name="Footer Placeholder 4">
            <a:extLst>
              <a:ext uri="{FF2B5EF4-FFF2-40B4-BE49-F238E27FC236}">
                <a16:creationId xmlns:a16="http://schemas.microsoft.com/office/drawing/2014/main" id="{08C5D01A-229C-E067-7B4E-BC254D6544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0741767-E51C-1DAB-E3C8-F047E87A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39234F-78F1-4984-9C4D-D4C7AB587871}" type="slidenum">
              <a:rPr lang="en-US" smtClean="0"/>
              <a:t>‹#›</a:t>
            </a:fld>
            <a:endParaRPr lang="en-US"/>
          </a:p>
        </p:txBody>
      </p:sp>
    </p:spTree>
    <p:extLst>
      <p:ext uri="{BB962C8B-B14F-4D97-AF65-F5344CB8AC3E}">
        <p14:creationId xmlns:p14="http://schemas.microsoft.com/office/powerpoint/2010/main" val="16456373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16266A-CA82-4709-A4C2-B8B2AD8F4816}" type="datetime3">
              <a:rPr lang="en-US" smtClean="0"/>
              <a:t>28 August 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Ph.D. Viva Voce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AD1135-6E10-4422-AC8B-257B84239C9C}" type="slidenum">
              <a:rPr lang="en-IN" smtClean="0"/>
              <a:t>‹#›</a:t>
            </a:fld>
            <a:endParaRPr lang="en-IN"/>
          </a:p>
        </p:txBody>
      </p:sp>
    </p:spTree>
    <p:extLst>
      <p:ext uri="{BB962C8B-B14F-4D97-AF65-F5344CB8AC3E}">
        <p14:creationId xmlns:p14="http://schemas.microsoft.com/office/powerpoint/2010/main" val="29137664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svgsilh.com/03a9f4/image/98809.html" TargetMode="External"/><Relationship Id="rId7" Type="http://schemas.openxmlformats.org/officeDocument/2006/relationships/diagramColors" Target="../diagrams/colors1.xml"/><Relationship Id="rId2" Type="http://schemas.openxmlformats.org/officeDocument/2006/relationships/image" Target="../media/image2.svg"/><Relationship Id="rId1" Type="http://schemas.openxmlformats.org/officeDocument/2006/relationships/slideLayout" Target="../slideLayouts/slideLayout18.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500C0830-A1CA-96AE-68D2-18C57ABE4802}"/>
              </a:ext>
            </a:extLst>
          </p:cNvPr>
          <p:cNvSpPr txBox="1"/>
          <p:nvPr/>
        </p:nvSpPr>
        <p:spPr>
          <a:xfrm>
            <a:off x="2995612" y="2868213"/>
            <a:ext cx="6200774" cy="492443"/>
          </a:xfrm>
          <a:prstGeom prst="rect">
            <a:avLst/>
          </a:prstGeom>
          <a:noFill/>
          <a:effectLst>
            <a:glow rad="139700">
              <a:schemeClr val="accent2">
                <a:satMod val="175000"/>
                <a:alpha val="40000"/>
              </a:schemeClr>
            </a:glow>
          </a:effectLst>
        </p:spPr>
        <p:txBody>
          <a:bodyPr wrap="square">
            <a:spAutoFit/>
          </a:bodyPr>
          <a:lstStyle/>
          <a:p>
            <a:pPr algn="ctr"/>
            <a:endParaRPr lang="en-IN" sz="600" dirty="0">
              <a:latin typeface="Times New Roman" panose="02020603050405020304" pitchFamily="18" charset="0"/>
              <a:cs typeface="Times New Roman" panose="02020603050405020304" pitchFamily="18" charset="0"/>
            </a:endParaRPr>
          </a:p>
          <a:p>
            <a:pPr algn="ctr"/>
            <a:r>
              <a:rPr lang="en-IN" sz="2000" b="1" dirty="0">
                <a:solidFill>
                  <a:srgbClr val="FF0000"/>
                </a:solidFill>
                <a:latin typeface="Times New Roman" panose="02020603050405020304" pitchFamily="18" charset="0"/>
                <a:cs typeface="Times New Roman" panose="02020603050405020304" pitchFamily="18" charset="0"/>
              </a:rPr>
              <a:t>Date&amp; Time</a:t>
            </a:r>
          </a:p>
        </p:txBody>
      </p:sp>
      <p:graphicFrame>
        <p:nvGraphicFramePr>
          <p:cNvPr id="18" name="Table 17">
            <a:extLst>
              <a:ext uri="{FF2B5EF4-FFF2-40B4-BE49-F238E27FC236}">
                <a16:creationId xmlns:a16="http://schemas.microsoft.com/office/drawing/2014/main" id="{BD22BC4D-4857-7D81-7819-37B7BB426420}"/>
              </a:ext>
            </a:extLst>
          </p:cNvPr>
          <p:cNvGraphicFramePr>
            <a:graphicFrameLocks noGrp="1"/>
          </p:cNvGraphicFramePr>
          <p:nvPr>
            <p:extLst>
              <p:ext uri="{D42A27DB-BD31-4B8C-83A1-F6EECF244321}">
                <p14:modId xmlns:p14="http://schemas.microsoft.com/office/powerpoint/2010/main" val="679049125"/>
              </p:ext>
            </p:extLst>
          </p:nvPr>
        </p:nvGraphicFramePr>
        <p:xfrm>
          <a:off x="8193271" y="4843645"/>
          <a:ext cx="3702050" cy="752368"/>
        </p:xfrm>
        <a:graphic>
          <a:graphicData uri="http://schemas.openxmlformats.org/drawingml/2006/table">
            <a:tbl>
              <a:tblPr firstRow="1" bandRow="1">
                <a:tableStyleId>{5940675A-B579-460E-94D1-54222C63F5DA}</a:tableStyleId>
              </a:tblPr>
              <a:tblGrid>
                <a:gridCol w="3702050">
                  <a:extLst>
                    <a:ext uri="{9D8B030D-6E8A-4147-A177-3AD203B41FA5}">
                      <a16:colId xmlns:a16="http://schemas.microsoft.com/office/drawing/2014/main" val="40058472"/>
                    </a:ext>
                  </a:extLst>
                </a:gridCol>
              </a:tblGrid>
              <a:tr h="7523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solidFill>
                            <a:srgbClr val="C00000"/>
                          </a:solidFill>
                          <a:latin typeface="Times New Roman" panose="02020603050405020304" pitchFamily="18" charset="0"/>
                          <a:cs typeface="Times New Roman" panose="02020603050405020304" pitchFamily="18" charset="0"/>
                        </a:rPr>
                        <a:t>Team Members</a:t>
                      </a:r>
                      <a:endParaRPr lang="en-IN" sz="1400" b="1" kern="1200" dirty="0">
                        <a:solidFill>
                          <a:schemeClr val="dk1"/>
                        </a:solidFill>
                        <a:latin typeface="Times New Roman" panose="02020603050405020304" pitchFamily="18" charset="0"/>
                        <a:ea typeface="Cambria"/>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21" name="Group 20">
            <a:extLst>
              <a:ext uri="{FF2B5EF4-FFF2-40B4-BE49-F238E27FC236}">
                <a16:creationId xmlns:a16="http://schemas.microsoft.com/office/drawing/2014/main" id="{B5A8CA37-C090-A9D8-75D0-A7A7D5DEBE24}"/>
              </a:ext>
            </a:extLst>
          </p:cNvPr>
          <p:cNvGrpSpPr/>
          <p:nvPr/>
        </p:nvGrpSpPr>
        <p:grpSpPr>
          <a:xfrm>
            <a:off x="8038280" y="4765558"/>
            <a:ext cx="230240" cy="232995"/>
            <a:chOff x="1567861" y="1613059"/>
            <a:chExt cx="230240" cy="232995"/>
          </a:xfrm>
          <a:solidFill>
            <a:srgbClr val="FF66FF"/>
          </a:solidFill>
        </p:grpSpPr>
        <p:sp>
          <p:nvSpPr>
            <p:cNvPr id="22" name="Isosceles Triangle 21">
              <a:extLst>
                <a:ext uri="{FF2B5EF4-FFF2-40B4-BE49-F238E27FC236}">
                  <a16:creationId xmlns:a16="http://schemas.microsoft.com/office/drawing/2014/main" id="{E48399A6-AAB5-B502-9670-34E0FCDF5541}"/>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23" name="Isosceles Triangle 22">
              <a:extLst>
                <a:ext uri="{FF2B5EF4-FFF2-40B4-BE49-F238E27FC236}">
                  <a16:creationId xmlns:a16="http://schemas.microsoft.com/office/drawing/2014/main" id="{67E59050-351C-0873-0298-AB77EA522C22}"/>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aphicFrame>
        <p:nvGraphicFramePr>
          <p:cNvPr id="30" name="Table 29">
            <a:extLst>
              <a:ext uri="{FF2B5EF4-FFF2-40B4-BE49-F238E27FC236}">
                <a16:creationId xmlns:a16="http://schemas.microsoft.com/office/drawing/2014/main" id="{9091FADF-77DB-CB1D-CD72-56C53CF76308}"/>
              </a:ext>
            </a:extLst>
          </p:cNvPr>
          <p:cNvGraphicFramePr>
            <a:graphicFrameLocks noGrp="1"/>
          </p:cNvGraphicFramePr>
          <p:nvPr>
            <p:extLst>
              <p:ext uri="{D42A27DB-BD31-4B8C-83A1-F6EECF244321}">
                <p14:modId xmlns:p14="http://schemas.microsoft.com/office/powerpoint/2010/main" val="173572751"/>
              </p:ext>
            </p:extLst>
          </p:nvPr>
        </p:nvGraphicFramePr>
        <p:xfrm>
          <a:off x="-795813" y="4774125"/>
          <a:ext cx="5902325" cy="1366520"/>
        </p:xfrm>
        <a:graphic>
          <a:graphicData uri="http://schemas.openxmlformats.org/drawingml/2006/table">
            <a:tbl>
              <a:tblPr firstRow="1" bandRow="1">
                <a:tableStyleId>{5940675A-B579-460E-94D1-54222C63F5DA}</a:tableStyleId>
              </a:tblPr>
              <a:tblGrid>
                <a:gridCol w="1373565">
                  <a:extLst>
                    <a:ext uri="{9D8B030D-6E8A-4147-A177-3AD203B41FA5}">
                      <a16:colId xmlns:a16="http://schemas.microsoft.com/office/drawing/2014/main" val="40058472"/>
                    </a:ext>
                  </a:extLst>
                </a:gridCol>
                <a:gridCol w="4528760">
                  <a:extLst>
                    <a:ext uri="{9D8B030D-6E8A-4147-A177-3AD203B41FA5}">
                      <a16:colId xmlns:a16="http://schemas.microsoft.com/office/drawing/2014/main" val="1330242319"/>
                    </a:ext>
                  </a:extLst>
                </a:gridCol>
              </a:tblGrid>
              <a:tr h="1332118">
                <a:tc>
                  <a:txBody>
                    <a:bodyPr/>
                    <a:lstStyle/>
                    <a:p>
                      <a:endParaRPr lang="en-IN" dirty="0"/>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endParaRPr lang="en-IN" sz="500" b="1" dirty="0">
                        <a:solidFill>
                          <a:srgbClr val="C00000"/>
                        </a:solidFill>
                        <a:latin typeface="Times New Roman" panose="02020603050405020304" pitchFamily="18" charset="0"/>
                        <a:cs typeface="Times New Roman" panose="02020603050405020304" pitchFamily="18" charset="0"/>
                      </a:endParaRPr>
                    </a:p>
                    <a:p>
                      <a:r>
                        <a:rPr lang="en-IN" sz="1600" b="1" dirty="0">
                          <a:solidFill>
                            <a:srgbClr val="C00000"/>
                          </a:solidFill>
                          <a:latin typeface="Times New Roman" panose="02020603050405020304" pitchFamily="18" charset="0"/>
                          <a:cs typeface="Times New Roman" panose="02020603050405020304" pitchFamily="18" charset="0"/>
                        </a:rPr>
                        <a:t>Under the Guidance of</a:t>
                      </a: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Dr.</a:t>
                      </a:r>
                      <a:r>
                        <a:rPr lang="en-IN" sz="1400" b="0" i="0" u="none" dirty="0">
                          <a:solidFill>
                            <a:srgbClr val="DAFFDE"/>
                          </a:solidFill>
                          <a:latin typeface="Urbanist"/>
                        </a:rPr>
                        <a:t> </a:t>
                      </a:r>
                      <a:r>
                        <a:rPr lang="en-IN" sz="1400" b="0" i="0" u="none" dirty="0" err="1">
                          <a:solidFill>
                            <a:schemeClr val="tx1"/>
                          </a:solidFill>
                          <a:latin typeface="Urbanist"/>
                        </a:rPr>
                        <a:t>Venkateswari</a:t>
                      </a:r>
                      <a:r>
                        <a:rPr lang="en-IN" sz="1400" b="0" i="0" u="none" dirty="0">
                          <a:solidFill>
                            <a:schemeClr val="tx1"/>
                          </a:solidFill>
                          <a:latin typeface="Urbanist"/>
                        </a:rPr>
                        <a:t> </a:t>
                      </a:r>
                      <a:r>
                        <a:rPr lang="en-IN" sz="1400" b="0" i="0" u="none" dirty="0" err="1">
                          <a:solidFill>
                            <a:schemeClr val="tx1"/>
                          </a:solidFill>
                          <a:latin typeface="Urbanist"/>
                        </a:rPr>
                        <a:t>Ketineni</a:t>
                      </a:r>
                      <a:endParaRPr lang="en-US" sz="1400" b="1" dirty="0">
                        <a:solidFill>
                          <a:schemeClr val="tx1"/>
                        </a:solidFill>
                        <a:latin typeface="Times New Roman" panose="02020603050405020304" pitchFamily="18" charset="0"/>
                        <a:ea typeface="Cambria"/>
                        <a:cs typeface="Times New Roman" panose="02020603050405020304" pitchFamily="18" charset="0"/>
                        <a:sym typeface="Cambria"/>
                      </a:endParaRP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Assistant Professor, </a:t>
                      </a: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Department of </a:t>
                      </a:r>
                      <a:r>
                        <a:rPr lang="en-US" sz="1400" b="1" dirty="0">
                          <a:solidFill>
                            <a:prstClr val="black"/>
                          </a:solidFill>
                          <a:latin typeface="Times New Roman" panose="02020603050405020304" pitchFamily="18" charset="0"/>
                          <a:ea typeface="Cambria"/>
                          <a:cs typeface="Times New Roman" panose="02020603050405020304" pitchFamily="18" charset="0"/>
                          <a:sym typeface="Cambria"/>
                        </a:rPr>
                        <a:t>Computer Science and Engineering, </a:t>
                      </a: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KLH CSE Bowrampet Campus</a:t>
                      </a:r>
                      <a:endParaRPr lang="en-US" sz="1400" dirty="0">
                        <a:solidFill>
                          <a:schemeClr val="dk1"/>
                        </a:solidFill>
                        <a:latin typeface="Times New Roman" panose="02020603050405020304" pitchFamily="18" charset="0"/>
                        <a:ea typeface="Cambria"/>
                        <a:cs typeface="Times New Roman" panose="02020603050405020304" pitchFamily="18" charset="0"/>
                        <a:sym typeface="Arial"/>
                      </a:endParaRP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31" name="Group 30">
            <a:extLst>
              <a:ext uri="{FF2B5EF4-FFF2-40B4-BE49-F238E27FC236}">
                <a16:creationId xmlns:a16="http://schemas.microsoft.com/office/drawing/2014/main" id="{8A67E7A6-1F33-FBD3-09B8-F35F17C8F890}"/>
              </a:ext>
            </a:extLst>
          </p:cNvPr>
          <p:cNvGrpSpPr/>
          <p:nvPr/>
        </p:nvGrpSpPr>
        <p:grpSpPr>
          <a:xfrm>
            <a:off x="442519" y="4562547"/>
            <a:ext cx="230240" cy="232995"/>
            <a:chOff x="1567861" y="1613059"/>
            <a:chExt cx="230240" cy="232995"/>
          </a:xfrm>
          <a:solidFill>
            <a:srgbClr val="00B0F0"/>
          </a:solidFill>
        </p:grpSpPr>
        <p:sp>
          <p:nvSpPr>
            <p:cNvPr id="32" name="Isosceles Triangle 31">
              <a:extLst>
                <a:ext uri="{FF2B5EF4-FFF2-40B4-BE49-F238E27FC236}">
                  <a16:creationId xmlns:a16="http://schemas.microsoft.com/office/drawing/2014/main" id="{FE269535-B3A3-75F2-310C-D43D8AC3F905}"/>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33" name="Isosceles Triangle 32">
              <a:extLst>
                <a:ext uri="{FF2B5EF4-FFF2-40B4-BE49-F238E27FC236}">
                  <a16:creationId xmlns:a16="http://schemas.microsoft.com/office/drawing/2014/main" id="{FA8E9237-F9D3-FB94-D6EB-94D77AEFD506}"/>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34" name="Date Placeholder 33">
            <a:extLst>
              <a:ext uri="{FF2B5EF4-FFF2-40B4-BE49-F238E27FC236}">
                <a16:creationId xmlns:a16="http://schemas.microsoft.com/office/drawing/2014/main" id="{C1554CCE-4DF8-89E6-E0F6-3C2A1439C7FA}"/>
              </a:ext>
            </a:extLst>
          </p:cNvPr>
          <p:cNvSpPr>
            <a:spLocks noGrp="1"/>
          </p:cNvSpPr>
          <p:nvPr>
            <p:ph type="dt" sz="half" idx="10"/>
          </p:nvPr>
        </p:nvSpPr>
        <p:spPr/>
        <p:txBody>
          <a:bodyPr/>
          <a:lstStyle/>
          <a:p>
            <a:r>
              <a:rPr lang="en-US" b="1" dirty="0"/>
              <a:t>Date</a:t>
            </a:r>
            <a:endParaRPr lang="en-IN" b="1" dirty="0"/>
          </a:p>
        </p:txBody>
      </p:sp>
      <p:sp>
        <p:nvSpPr>
          <p:cNvPr id="35" name="Footer Placeholder 34">
            <a:extLst>
              <a:ext uri="{FF2B5EF4-FFF2-40B4-BE49-F238E27FC236}">
                <a16:creationId xmlns:a16="http://schemas.microsoft.com/office/drawing/2014/main" id="{8FB49AA0-2464-6225-6B6C-063F9A6ECD20}"/>
              </a:ext>
            </a:extLst>
          </p:cNvPr>
          <p:cNvSpPr>
            <a:spLocks noGrp="1"/>
          </p:cNvSpPr>
          <p:nvPr>
            <p:ph type="ftr" sz="quarter" idx="11"/>
          </p:nvPr>
        </p:nvSpPr>
        <p:spPr/>
        <p:txBody>
          <a:bodyPr/>
          <a:lstStyle/>
          <a:p>
            <a:r>
              <a:rPr lang="en-IN" b="1" dirty="0"/>
              <a:t>SOA Project Review-1</a:t>
            </a:r>
          </a:p>
        </p:txBody>
      </p:sp>
      <p:sp>
        <p:nvSpPr>
          <p:cNvPr id="36" name="Slide Number Placeholder 35">
            <a:extLst>
              <a:ext uri="{FF2B5EF4-FFF2-40B4-BE49-F238E27FC236}">
                <a16:creationId xmlns:a16="http://schemas.microsoft.com/office/drawing/2014/main" id="{28F834F9-83AA-E3F9-773A-4B7A83B345F7}"/>
              </a:ext>
            </a:extLst>
          </p:cNvPr>
          <p:cNvSpPr>
            <a:spLocks noGrp="1"/>
          </p:cNvSpPr>
          <p:nvPr>
            <p:ph type="sldNum" sz="quarter" idx="12"/>
          </p:nvPr>
        </p:nvSpPr>
        <p:spPr/>
        <p:txBody>
          <a:bodyPr/>
          <a:lstStyle/>
          <a:p>
            <a:fld id="{01AD1135-6E10-4422-AC8B-257B84239C9C}" type="slidenum">
              <a:rPr lang="en-IN" smtClean="0"/>
              <a:t>1</a:t>
            </a:fld>
            <a:endParaRPr lang="en-IN" dirty="0"/>
          </a:p>
        </p:txBody>
      </p:sp>
      <p:sp>
        <p:nvSpPr>
          <p:cNvPr id="4" name="Rectangle: Rounded Corners 3">
            <a:extLst>
              <a:ext uri="{FF2B5EF4-FFF2-40B4-BE49-F238E27FC236}">
                <a16:creationId xmlns:a16="http://schemas.microsoft.com/office/drawing/2014/main" id="{4EE5F681-D3B5-BC4B-8AA4-5688DCEEFB44}"/>
              </a:ext>
            </a:extLst>
          </p:cNvPr>
          <p:cNvSpPr/>
          <p:nvPr/>
        </p:nvSpPr>
        <p:spPr>
          <a:xfrm>
            <a:off x="638175" y="769267"/>
            <a:ext cx="10915650" cy="985640"/>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C00000"/>
              </a:solidFill>
              <a:effectLst/>
              <a:uLnTx/>
              <a:uFillTx/>
              <a:latin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Times New Roman" panose="02020603050405020304" pitchFamily="18" charset="0"/>
              <a:cs typeface="Times New Roman" panose="02020603050405020304" pitchFamily="18" charset="0"/>
            </a:endParaRPr>
          </a:p>
          <a:p>
            <a:pPr algn="ctr"/>
            <a:endParaRPr lang="en-IN"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4782FAE-AFAF-27B2-2591-CFAF7695BD03}"/>
              </a:ext>
            </a:extLst>
          </p:cNvPr>
          <p:cNvPicPr>
            <a:picLocks noChangeAspect="1"/>
          </p:cNvPicPr>
          <p:nvPr/>
        </p:nvPicPr>
        <p:blipFill>
          <a:blip r:embed="rId3"/>
          <a:stretch>
            <a:fillRect/>
          </a:stretch>
        </p:blipFill>
        <p:spPr>
          <a:xfrm>
            <a:off x="10249380" y="0"/>
            <a:ext cx="1942620" cy="622550"/>
          </a:xfrm>
          <a:prstGeom prst="rect">
            <a:avLst/>
          </a:prstGeom>
        </p:spPr>
      </p:pic>
      <p:sp>
        <p:nvSpPr>
          <p:cNvPr id="14" name="TextBox 13">
            <a:extLst>
              <a:ext uri="{FF2B5EF4-FFF2-40B4-BE49-F238E27FC236}">
                <a16:creationId xmlns:a16="http://schemas.microsoft.com/office/drawing/2014/main" id="{DD4CF64F-3FB6-0CE4-B778-63C5D5A1D343}"/>
              </a:ext>
            </a:extLst>
          </p:cNvPr>
          <p:cNvSpPr txBox="1"/>
          <p:nvPr/>
        </p:nvSpPr>
        <p:spPr>
          <a:xfrm>
            <a:off x="1" y="810857"/>
            <a:ext cx="12192000" cy="668003"/>
          </a:xfrm>
          <a:prstGeom prst="rect">
            <a:avLst/>
          </a:prstGeom>
          <a:noFill/>
        </p:spPr>
        <p:txBody>
          <a:bodyPr wrap="square">
            <a:spAutoFit/>
          </a:bodyPr>
          <a:lstStyle/>
          <a:p>
            <a:pPr algn="ctr">
              <a:lnSpc>
                <a:spcPts val="4950"/>
              </a:lnSpc>
            </a:pPr>
            <a:r>
              <a:rPr lang="en-IN" sz="2800" dirty="0">
                <a:solidFill>
                  <a:schemeClr val="bg1"/>
                </a:solidFill>
                <a:latin typeface="Urbanist Medium"/>
              </a:rPr>
              <a:t>Vulnerability</a:t>
            </a:r>
            <a:r>
              <a:rPr lang="en-IN" sz="2800" dirty="0">
                <a:solidFill>
                  <a:srgbClr val="F5F5F5"/>
                </a:solidFill>
                <a:latin typeface="Urbanist Medium"/>
              </a:rPr>
              <a:t> Tracking &amp; Remediation System </a:t>
            </a:r>
          </a:p>
        </p:txBody>
      </p:sp>
      <p:sp>
        <p:nvSpPr>
          <p:cNvPr id="17" name="TextBox 16">
            <a:extLst>
              <a:ext uri="{FF2B5EF4-FFF2-40B4-BE49-F238E27FC236}">
                <a16:creationId xmlns:a16="http://schemas.microsoft.com/office/drawing/2014/main" id="{D25BC1A0-FDE4-1557-375E-6E0BD69BC77B}"/>
              </a:ext>
            </a:extLst>
          </p:cNvPr>
          <p:cNvSpPr txBox="1"/>
          <p:nvPr/>
        </p:nvSpPr>
        <p:spPr>
          <a:xfrm>
            <a:off x="738187" y="2246806"/>
            <a:ext cx="10715625" cy="584775"/>
          </a:xfrm>
          <a:prstGeom prst="rect">
            <a:avLst/>
          </a:prstGeom>
          <a:noFill/>
        </p:spPr>
        <p:txBody>
          <a:bodyPr wrap="square">
            <a:spAutoFit/>
          </a:bodyPr>
          <a:lstStyle/>
          <a:p>
            <a:pPr lvl="0" algn="ctr">
              <a:defRPr/>
            </a:pPr>
            <a:r>
              <a:rPr lang="en-IN" sz="3200" b="1" dirty="0">
                <a:latin typeface="Times New Roman" panose="02020603050405020304" pitchFamily="18" charset="0"/>
                <a:cs typeface="Times New Roman" panose="02020603050405020304" pitchFamily="18" charset="0"/>
              </a:rPr>
              <a:t>SOA Project Review-1</a:t>
            </a:r>
          </a:p>
        </p:txBody>
      </p:sp>
      <p:sp>
        <p:nvSpPr>
          <p:cNvPr id="3" name="TextBox 2">
            <a:extLst>
              <a:ext uri="{FF2B5EF4-FFF2-40B4-BE49-F238E27FC236}">
                <a16:creationId xmlns:a16="http://schemas.microsoft.com/office/drawing/2014/main" id="{22FC0C6C-66FA-0F1D-FF20-5FB986C9221B}"/>
              </a:ext>
            </a:extLst>
          </p:cNvPr>
          <p:cNvSpPr txBox="1"/>
          <p:nvPr/>
        </p:nvSpPr>
        <p:spPr>
          <a:xfrm>
            <a:off x="8231505" y="5189702"/>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MODALLA PRANITH REDDY - 2420030158</a:t>
            </a:r>
          </a:p>
        </p:txBody>
      </p:sp>
      <p:sp>
        <p:nvSpPr>
          <p:cNvPr id="6" name="TextBox 5">
            <a:extLst>
              <a:ext uri="{FF2B5EF4-FFF2-40B4-BE49-F238E27FC236}">
                <a16:creationId xmlns:a16="http://schemas.microsoft.com/office/drawing/2014/main" id="{01CE3E00-13BC-025C-769E-F75C7BE31D1B}"/>
              </a:ext>
            </a:extLst>
          </p:cNvPr>
          <p:cNvSpPr txBox="1"/>
          <p:nvPr/>
        </p:nvSpPr>
        <p:spPr>
          <a:xfrm>
            <a:off x="8249793" y="5426303"/>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V Praneeth - 2420030636</a:t>
            </a:r>
          </a:p>
        </p:txBody>
      </p:sp>
      <p:sp>
        <p:nvSpPr>
          <p:cNvPr id="9" name="TextBox 8">
            <a:extLst>
              <a:ext uri="{FF2B5EF4-FFF2-40B4-BE49-F238E27FC236}">
                <a16:creationId xmlns:a16="http://schemas.microsoft.com/office/drawing/2014/main" id="{3C969DCD-220F-139D-35EE-14B9464BA52E}"/>
              </a:ext>
            </a:extLst>
          </p:cNvPr>
          <p:cNvSpPr txBox="1"/>
          <p:nvPr/>
        </p:nvSpPr>
        <p:spPr>
          <a:xfrm>
            <a:off x="8249793" y="5681192"/>
            <a:ext cx="3467100" cy="271998"/>
          </a:xfrm>
          <a:prstGeom prst="rect">
            <a:avLst/>
          </a:prstGeom>
          <a:noFill/>
        </p:spPr>
        <p:txBody>
          <a:bodyPr wrap="square" lIns="0" tIns="0" rIns="0" bIns="0" anchor="t">
            <a:spAutoFit/>
          </a:bodyPr>
          <a:lstStyle/>
          <a:p>
            <a:pPr algn="l">
              <a:lnSpc>
                <a:spcPts val="2250"/>
              </a:lnSpc>
            </a:pPr>
            <a:r>
              <a:rPr sz="1500" b="0" i="0" u="none" dirty="0">
                <a:latin typeface="Urbanist"/>
              </a:rPr>
              <a:t>Y Karthikeya - 2420030351</a:t>
            </a:r>
          </a:p>
        </p:txBody>
      </p:sp>
    </p:spTree>
    <p:extLst>
      <p:ext uri="{BB962C8B-B14F-4D97-AF65-F5344CB8AC3E}">
        <p14:creationId xmlns:p14="http://schemas.microsoft.com/office/powerpoint/2010/main" val="2247602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6FAE64B-DFA9-4528-D74E-DAEA88C008D5}"/>
              </a:ext>
            </a:extLst>
          </p:cNvPr>
          <p:cNvSpPr>
            <a:spLocks noGrp="1"/>
          </p:cNvSpPr>
          <p:nvPr>
            <p:ph type="dt" sz="half" idx="10"/>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41222DE7-17C6-1B7E-71C0-2347B0AA2C6B}"/>
              </a:ext>
            </a:extLst>
          </p:cNvPr>
          <p:cNvSpPr>
            <a:spLocks noGrp="1"/>
          </p:cNvSpPr>
          <p:nvPr>
            <p:ph type="ftr" sz="quarter" idx="11"/>
          </p:nvPr>
        </p:nvSpPr>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6420A00F-144B-157D-A12F-7CF90703CA18}"/>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A3A418F-4DEE-4BB1-940B-1145D135750E}" type="slidenum">
              <a:rPr kumimoji="0" lang="en-I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9797C6D7-F4DC-4908-B610-D10EE43A9B41}"/>
              </a:ext>
            </a:extLst>
          </p:cNvPr>
          <p:cNvSpPr txBox="1"/>
          <p:nvPr/>
        </p:nvSpPr>
        <p:spPr>
          <a:xfrm>
            <a:off x="3020906" y="173546"/>
            <a:ext cx="5854242" cy="646331"/>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IN" sz="3600" b="1" i="0" u="none" strike="noStrike" kern="1200" cap="none" spc="0" normalizeH="0" baseline="0" noProof="0" dirty="0">
                <a:ln w="0"/>
                <a:solidFill>
                  <a:srgbClr val="4472C4"/>
                </a:solidFill>
                <a:effectLst/>
                <a:uLnTx/>
                <a:uFillTx/>
                <a:latin typeface="Times New Roman" panose="02020603050405020304" pitchFamily="18" charset="0"/>
                <a:ea typeface="Cambria"/>
                <a:cs typeface="Times New Roman" panose="02020603050405020304" pitchFamily="18" charset="0"/>
              </a:rPr>
              <a:t>Outline of Project Work</a:t>
            </a:r>
          </a:p>
        </p:txBody>
      </p:sp>
      <p:grpSp>
        <p:nvGrpSpPr>
          <p:cNvPr id="8" name="Group 7">
            <a:extLst>
              <a:ext uri="{FF2B5EF4-FFF2-40B4-BE49-F238E27FC236}">
                <a16:creationId xmlns:a16="http://schemas.microsoft.com/office/drawing/2014/main" id="{B25CDE63-8DDC-4AC4-7713-9D89D6D0F4B1}"/>
              </a:ext>
            </a:extLst>
          </p:cNvPr>
          <p:cNvGrpSpPr/>
          <p:nvPr/>
        </p:nvGrpSpPr>
        <p:grpSpPr>
          <a:xfrm>
            <a:off x="2001361" y="1377996"/>
            <a:ext cx="6784432" cy="4438977"/>
            <a:chOff x="1929643" y="1656655"/>
            <a:chExt cx="6784432" cy="4438977"/>
          </a:xfrm>
        </p:grpSpPr>
        <p:sp>
          <p:nvSpPr>
            <p:cNvPr id="16" name="TextBox 15">
              <a:extLst>
                <a:ext uri="{FF2B5EF4-FFF2-40B4-BE49-F238E27FC236}">
                  <a16:creationId xmlns:a16="http://schemas.microsoft.com/office/drawing/2014/main" id="{C0A4CA55-824E-91B2-D5F9-032778D4B8B3}"/>
                </a:ext>
              </a:extLst>
            </p:cNvPr>
            <p:cNvSpPr txBox="1"/>
            <p:nvPr/>
          </p:nvSpPr>
          <p:spPr>
            <a:xfrm>
              <a:off x="2675533" y="3257433"/>
              <a:ext cx="4267376" cy="960328"/>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Challenges</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18" name="TextBox 17">
              <a:extLst>
                <a:ext uri="{FF2B5EF4-FFF2-40B4-BE49-F238E27FC236}">
                  <a16:creationId xmlns:a16="http://schemas.microsoft.com/office/drawing/2014/main" id="{EE7E17B2-5AF8-C463-91C3-5B87FC773369}"/>
                </a:ext>
              </a:extLst>
            </p:cNvPr>
            <p:cNvSpPr txBox="1"/>
            <p:nvPr/>
          </p:nvSpPr>
          <p:spPr>
            <a:xfrm>
              <a:off x="2922896" y="3753448"/>
              <a:ext cx="4374693" cy="87357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Research Objectives</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0" name="TextBox 19">
              <a:extLst>
                <a:ext uri="{FF2B5EF4-FFF2-40B4-BE49-F238E27FC236}">
                  <a16:creationId xmlns:a16="http://schemas.microsoft.com/office/drawing/2014/main" id="{6D160BA9-A291-1BA5-C03E-7218C2169C28}"/>
                </a:ext>
              </a:extLst>
            </p:cNvPr>
            <p:cNvSpPr txBox="1"/>
            <p:nvPr/>
          </p:nvSpPr>
          <p:spPr>
            <a:xfrm>
              <a:off x="3139925" y="4332926"/>
              <a:ext cx="4529560" cy="937693"/>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Conclusion &amp; Future Work</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2" name="TextBox 21">
              <a:extLst>
                <a:ext uri="{FF2B5EF4-FFF2-40B4-BE49-F238E27FC236}">
                  <a16:creationId xmlns:a16="http://schemas.microsoft.com/office/drawing/2014/main" id="{6C792DA3-F484-948A-E346-F158FE24CE3F}"/>
                </a:ext>
              </a:extLst>
            </p:cNvPr>
            <p:cNvSpPr txBox="1"/>
            <p:nvPr/>
          </p:nvSpPr>
          <p:spPr>
            <a:xfrm>
              <a:off x="3426151" y="4880317"/>
              <a:ext cx="4774676" cy="919739"/>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References</a:t>
              </a:r>
              <a:b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br>
              <a:endPar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sp>
          <p:nvSpPr>
            <p:cNvPr id="24" name="TextBox 23">
              <a:extLst>
                <a:ext uri="{FF2B5EF4-FFF2-40B4-BE49-F238E27FC236}">
                  <a16:creationId xmlns:a16="http://schemas.microsoft.com/office/drawing/2014/main" id="{957E2443-43F4-3FA3-6C83-796D6B456220}"/>
                </a:ext>
              </a:extLst>
            </p:cNvPr>
            <p:cNvSpPr txBox="1"/>
            <p:nvPr/>
          </p:nvSpPr>
          <p:spPr>
            <a:xfrm>
              <a:off x="3822549" y="5483028"/>
              <a:ext cx="4891526" cy="612604"/>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Publications Details</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pic>
          <p:nvPicPr>
            <p:cNvPr id="7" name="Graphic 6">
              <a:extLst>
                <a:ext uri="{FF2B5EF4-FFF2-40B4-BE49-F238E27FC236}">
                  <a16:creationId xmlns:a16="http://schemas.microsoft.com/office/drawing/2014/main" id="{FEE87FCF-6A51-9005-163C-5E3B5C1257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8229530" y="5002476"/>
              <a:ext cx="455841" cy="536286"/>
            </a:xfrm>
            <a:prstGeom prst="rect">
              <a:avLst/>
            </a:prstGeom>
          </p:spPr>
        </p:pic>
        <p:sp>
          <p:nvSpPr>
            <p:cNvPr id="28" name="Content Placeholder 11">
              <a:extLst>
                <a:ext uri="{FF2B5EF4-FFF2-40B4-BE49-F238E27FC236}">
                  <a16:creationId xmlns:a16="http://schemas.microsoft.com/office/drawing/2014/main" id="{F1211E34-5F1E-9B5C-4C59-2549F412DCD1}"/>
                </a:ext>
              </a:extLst>
            </p:cNvPr>
            <p:cNvSpPr txBox="1">
              <a:spLocks/>
            </p:cNvSpPr>
            <p:nvPr/>
          </p:nvSpPr>
          <p:spPr>
            <a:xfrm>
              <a:off x="1929643" y="1656655"/>
              <a:ext cx="3548330" cy="748994"/>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Focus</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sp>
          <p:nvSpPr>
            <p:cNvPr id="31" name="Content Placeholder 11">
              <a:extLst>
                <a:ext uri="{FF2B5EF4-FFF2-40B4-BE49-F238E27FC236}">
                  <a16:creationId xmlns:a16="http://schemas.microsoft.com/office/drawing/2014/main" id="{4D713724-2EA7-CA04-47B9-F63B3DAC496D}"/>
                </a:ext>
              </a:extLst>
            </p:cNvPr>
            <p:cNvSpPr txBox="1">
              <a:spLocks/>
            </p:cNvSpPr>
            <p:nvPr/>
          </p:nvSpPr>
          <p:spPr>
            <a:xfrm>
              <a:off x="2209801" y="2217836"/>
              <a:ext cx="3886200" cy="666229"/>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Introduction</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pic>
          <p:nvPicPr>
            <p:cNvPr id="36" name="Graphic 35">
              <a:extLst>
                <a:ext uri="{FF2B5EF4-FFF2-40B4-BE49-F238E27FC236}">
                  <a16:creationId xmlns:a16="http://schemas.microsoft.com/office/drawing/2014/main" id="{55B3B570-3194-94D5-869B-2F3E3E133B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683523" y="4358877"/>
              <a:ext cx="455841" cy="536286"/>
            </a:xfrm>
            <a:prstGeom prst="rect">
              <a:avLst/>
            </a:prstGeom>
          </p:spPr>
        </p:pic>
        <p:pic>
          <p:nvPicPr>
            <p:cNvPr id="37" name="Graphic 36">
              <a:extLst>
                <a:ext uri="{FF2B5EF4-FFF2-40B4-BE49-F238E27FC236}">
                  <a16:creationId xmlns:a16="http://schemas.microsoft.com/office/drawing/2014/main" id="{A01B3509-5090-7764-12FF-0CDB13E360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7229942" y="3813495"/>
              <a:ext cx="455841" cy="536286"/>
            </a:xfrm>
            <a:prstGeom prst="rect">
              <a:avLst/>
            </a:prstGeom>
          </p:spPr>
        </p:pic>
        <p:pic>
          <p:nvPicPr>
            <p:cNvPr id="38" name="Graphic 37">
              <a:extLst>
                <a:ext uri="{FF2B5EF4-FFF2-40B4-BE49-F238E27FC236}">
                  <a16:creationId xmlns:a16="http://schemas.microsoft.com/office/drawing/2014/main" id="{4A5FDD7E-5A46-92A5-C963-19E091BBF72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863353" y="3200501"/>
              <a:ext cx="455841" cy="536286"/>
            </a:xfrm>
            <a:prstGeom prst="rect">
              <a:avLst/>
            </a:prstGeom>
          </p:spPr>
        </p:pic>
        <p:pic>
          <p:nvPicPr>
            <p:cNvPr id="39" name="Graphic 38">
              <a:extLst>
                <a:ext uri="{FF2B5EF4-FFF2-40B4-BE49-F238E27FC236}">
                  <a16:creationId xmlns:a16="http://schemas.microsoft.com/office/drawing/2014/main" id="{C50C5009-E2F0-E358-4C45-CAEADDEC93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443196" y="2766955"/>
              <a:ext cx="455841" cy="536286"/>
            </a:xfrm>
            <a:prstGeom prst="rect">
              <a:avLst/>
            </a:prstGeom>
          </p:spPr>
        </p:pic>
        <p:pic>
          <p:nvPicPr>
            <p:cNvPr id="40" name="Graphic 39">
              <a:extLst>
                <a:ext uri="{FF2B5EF4-FFF2-40B4-BE49-F238E27FC236}">
                  <a16:creationId xmlns:a16="http://schemas.microsoft.com/office/drawing/2014/main" id="{F1D91F2F-C2FB-3146-467B-21A20C8410D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6040392" y="2252522"/>
              <a:ext cx="455841" cy="536286"/>
            </a:xfrm>
            <a:prstGeom prst="rect">
              <a:avLst/>
            </a:prstGeom>
          </p:spPr>
        </p:pic>
        <p:pic>
          <p:nvPicPr>
            <p:cNvPr id="41" name="Graphic 40">
              <a:extLst>
                <a:ext uri="{FF2B5EF4-FFF2-40B4-BE49-F238E27FC236}">
                  <a16:creationId xmlns:a16="http://schemas.microsoft.com/office/drawing/2014/main" id="{7B0FD951-BFA0-1228-E572-2BFE866AEE7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 uri="{837473B0-CC2E-450A-ABE3-18F120FF3D39}">
                  <a1611:picAttrSrcUrl xmlns:a1611="http://schemas.microsoft.com/office/drawing/2016/11/main" r:id="rId3"/>
                </a:ext>
              </a:extLst>
            </a:blip>
            <a:stretch>
              <a:fillRect/>
            </a:stretch>
          </p:blipFill>
          <p:spPr>
            <a:xfrm rot="21415757" flipH="1">
              <a:off x="5626122" y="1721293"/>
              <a:ext cx="455841" cy="536286"/>
            </a:xfrm>
            <a:prstGeom prst="rect">
              <a:avLst/>
            </a:prstGeom>
          </p:spPr>
        </p:pic>
        <p:sp>
          <p:nvSpPr>
            <p:cNvPr id="14" name="TextBox 13">
              <a:extLst>
                <a:ext uri="{FF2B5EF4-FFF2-40B4-BE49-F238E27FC236}">
                  <a16:creationId xmlns:a16="http://schemas.microsoft.com/office/drawing/2014/main" id="{576F380C-3238-E430-3C22-3C23884CE532}"/>
                </a:ext>
              </a:extLst>
            </p:cNvPr>
            <p:cNvSpPr txBox="1"/>
            <p:nvPr/>
          </p:nvSpPr>
          <p:spPr>
            <a:xfrm>
              <a:off x="2490411" y="2773626"/>
              <a:ext cx="4004225" cy="506870"/>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4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Literature Survey</a:t>
              </a:r>
              <a:endParaRPr kumimoji="0" lang="en-US" sz="204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grpSp>
      <p:graphicFrame>
        <p:nvGraphicFramePr>
          <p:cNvPr id="26" name="Diagram 25">
            <a:extLst>
              <a:ext uri="{FF2B5EF4-FFF2-40B4-BE49-F238E27FC236}">
                <a16:creationId xmlns:a16="http://schemas.microsoft.com/office/drawing/2014/main" id="{C044B753-17EC-8A45-927F-C44CC40ED5BA}"/>
              </a:ext>
            </a:extLst>
          </p:cNvPr>
          <p:cNvGraphicFramePr/>
          <p:nvPr/>
        </p:nvGraphicFramePr>
        <p:xfrm>
          <a:off x="41510" y="115414"/>
          <a:ext cx="1474694" cy="94234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0" name="Picture 9">
            <a:extLst>
              <a:ext uri="{FF2B5EF4-FFF2-40B4-BE49-F238E27FC236}">
                <a16:creationId xmlns:a16="http://schemas.microsoft.com/office/drawing/2014/main" id="{0B4D1914-919F-D842-1FC2-1BBFC0E95C24}"/>
              </a:ext>
            </a:extLst>
          </p:cNvPr>
          <p:cNvPicPr>
            <a:picLocks noChangeAspect="1"/>
          </p:cNvPicPr>
          <p:nvPr/>
        </p:nvPicPr>
        <p:blipFill>
          <a:blip r:embed="rId9"/>
          <a:stretch>
            <a:fillRect/>
          </a:stretch>
        </p:blipFill>
        <p:spPr>
          <a:xfrm>
            <a:off x="10249380" y="0"/>
            <a:ext cx="1901110" cy="622550"/>
          </a:xfrm>
          <a:prstGeom prst="rect">
            <a:avLst/>
          </a:prstGeom>
        </p:spPr>
      </p:pic>
    </p:spTree>
    <p:extLst>
      <p:ext uri="{BB962C8B-B14F-4D97-AF65-F5344CB8AC3E}">
        <p14:creationId xmlns:p14="http://schemas.microsoft.com/office/powerpoint/2010/main" val="274796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C8F81-5402-FBBE-D32A-834F3C60336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D4C9C-9DEB-26F4-AA75-F51C06DD64DC}"/>
              </a:ext>
            </a:extLst>
          </p:cNvPr>
          <p:cNvSpPr txBox="1"/>
          <p:nvPr/>
        </p:nvSpPr>
        <p:spPr>
          <a:xfrm>
            <a:off x="3991897" y="482232"/>
            <a:ext cx="6096000" cy="646331"/>
          </a:xfrm>
          <a:prstGeom prst="rect">
            <a:avLst/>
          </a:prstGeom>
          <a:noFill/>
        </p:spPr>
        <p:txBody>
          <a:bodyPr wrap="square">
            <a:spAutoFit/>
          </a:bodyPr>
          <a:lstStyle/>
          <a:p>
            <a:r>
              <a:rPr lang="en-US" sz="3600" b="1" dirty="0"/>
              <a:t>Problem Statement</a:t>
            </a:r>
          </a:p>
        </p:txBody>
      </p:sp>
      <p:pic>
        <p:nvPicPr>
          <p:cNvPr id="3" name="Picture 2">
            <a:extLst>
              <a:ext uri="{FF2B5EF4-FFF2-40B4-BE49-F238E27FC236}">
                <a16:creationId xmlns:a16="http://schemas.microsoft.com/office/drawing/2014/main" id="{17A614DC-364B-1BD9-B452-BC2E55FD9D04}"/>
              </a:ext>
            </a:extLst>
          </p:cNvPr>
          <p:cNvPicPr>
            <a:picLocks noChangeAspect="1"/>
          </p:cNvPicPr>
          <p:nvPr/>
        </p:nvPicPr>
        <p:blipFill>
          <a:blip r:embed="rId3"/>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5A78956-5BDB-E0B9-89E9-5089E1D1A6A3}"/>
              </a:ext>
            </a:extLst>
          </p:cNvPr>
          <p:cNvSpPr txBox="1"/>
          <p:nvPr/>
        </p:nvSpPr>
        <p:spPr>
          <a:xfrm>
            <a:off x="1103376" y="1445180"/>
            <a:ext cx="10149840" cy="4708981"/>
          </a:xfrm>
          <a:prstGeom prst="rect">
            <a:avLst/>
          </a:prstGeom>
          <a:noFill/>
        </p:spPr>
        <p:txBody>
          <a:bodyPr wrap="square" rtlCol="0">
            <a:spAutoFit/>
          </a:bodyPr>
          <a:lstStyle/>
          <a:p>
            <a:pPr algn="just"/>
            <a:r>
              <a:rPr lang="en-IN" sz="2000" dirty="0"/>
              <a:t>Organizations face significant challenges in </a:t>
            </a:r>
            <a:r>
              <a:rPr lang="en-IN" sz="2000" b="1" dirty="0"/>
              <a:t>identifying, tracking, prioritizing, and resolving security vulnerabilities</a:t>
            </a:r>
            <a:r>
              <a:rPr lang="en-IN" sz="2000" dirty="0"/>
              <a:t> because these activities are often managed through fragmented and manual workflows. Security analysts may detect and report vulnerabilities, while developers are responsible for fixing them, but the absence of a unified platform creates communication gaps and delays in the remediation process. In addition, vulnerabilities may not be properly classified according to their severity, making it difficult to identify which security issues require immediate attention. Without automated lifecycle tracking, organizations may also lose visibility into whether a vulnerability has been reported, assigned, addressed, verified, or closed. The lack of timely notifications for new assignments, status changes, and approaching remediation deadlines can further increase the risk of critical vulnerabilities being overlooked. Therefore, there is a need for a </a:t>
            </a:r>
            <a:r>
              <a:rPr lang="en-IN" sz="2000" b="1" dirty="0"/>
              <a:t>centralized Vulnerability Tracking and Remediation System</a:t>
            </a:r>
            <a:r>
              <a:rPr lang="en-IN" sz="2000" dirty="0"/>
              <a:t> that brings these activities together, provides clear visibility into vulnerability status and severity, improves communication between security analysts and developers, and helps organizations reduce remediation delays and overall security exposure.</a:t>
            </a:r>
          </a:p>
        </p:txBody>
      </p:sp>
    </p:spTree>
    <p:extLst>
      <p:ext uri="{BB962C8B-B14F-4D97-AF65-F5344CB8AC3E}">
        <p14:creationId xmlns:p14="http://schemas.microsoft.com/office/powerpoint/2010/main" val="1843937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AF34-8CFC-8161-A3CD-DED259C92A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508849-A0DD-12D4-FD0D-5322CA138B2F}"/>
              </a:ext>
            </a:extLst>
          </p:cNvPr>
          <p:cNvSpPr txBox="1"/>
          <p:nvPr/>
        </p:nvSpPr>
        <p:spPr>
          <a:xfrm>
            <a:off x="3048000" y="469169"/>
            <a:ext cx="6096000" cy="646331"/>
          </a:xfrm>
          <a:prstGeom prst="rect">
            <a:avLst/>
          </a:prstGeom>
          <a:noFill/>
        </p:spPr>
        <p:txBody>
          <a:bodyPr wrap="square">
            <a:spAutoFit/>
          </a:bodyPr>
          <a:lstStyle/>
          <a:p>
            <a:pPr algn="ctr"/>
            <a:r>
              <a:rPr lang="en-US" sz="3600" b="1" dirty="0"/>
              <a:t>Objectives</a:t>
            </a:r>
          </a:p>
        </p:txBody>
      </p:sp>
      <p:pic>
        <p:nvPicPr>
          <p:cNvPr id="3" name="Picture 2">
            <a:extLst>
              <a:ext uri="{FF2B5EF4-FFF2-40B4-BE49-F238E27FC236}">
                <a16:creationId xmlns:a16="http://schemas.microsoft.com/office/drawing/2014/main" id="{5B2C6E66-DFCA-CBBA-3972-F62C5800AE03}"/>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0928558-25B8-3332-CDAA-520F0D105154}"/>
              </a:ext>
            </a:extLst>
          </p:cNvPr>
          <p:cNvSpPr txBox="1"/>
          <p:nvPr/>
        </p:nvSpPr>
        <p:spPr>
          <a:xfrm>
            <a:off x="651588" y="987748"/>
            <a:ext cx="10888824" cy="5632311"/>
          </a:xfrm>
          <a:prstGeom prst="rect">
            <a:avLst/>
          </a:prstGeom>
          <a:noFill/>
        </p:spPr>
        <p:txBody>
          <a:bodyPr wrap="square" rtlCol="0">
            <a:spAutoFit/>
          </a:bodyPr>
          <a:lstStyle/>
          <a:p>
            <a:pPr marL="285750" lvl="0" indent="-285750" algn="just">
              <a:buFont typeface="Arial" panose="020B0604020202020204" pitchFamily="34" charset="0"/>
              <a:buChar char="•"/>
            </a:pPr>
            <a:r>
              <a:rPr lang="en-IN" sz="2000" b="1" dirty="0"/>
              <a:t>Role-Based Access Control:</a:t>
            </a:r>
            <a:r>
              <a:rPr lang="en-IN" sz="2000" dirty="0"/>
              <a:t> Implement secure role-based access control (RBAC) for </a:t>
            </a:r>
            <a:r>
              <a:rPr lang="en-IN" sz="2000" b="1" dirty="0"/>
              <a:t>Administrators, Security Analysts, and Developers</a:t>
            </a:r>
            <a:r>
              <a:rPr lang="en-IN" sz="2000" dirty="0"/>
              <a:t>, ensuring that each role has appropriate permissions and responsibilities. </a:t>
            </a:r>
          </a:p>
          <a:p>
            <a:pPr marL="285750" lvl="0" indent="-285750" algn="just">
              <a:buFont typeface="Arial" panose="020B0604020202020204" pitchFamily="34" charset="0"/>
              <a:buChar char="•"/>
            </a:pPr>
            <a:r>
              <a:rPr lang="en-IN" sz="2000" b="1" dirty="0"/>
              <a:t>Vulnerability Lifecycle Management:</a:t>
            </a:r>
            <a:r>
              <a:rPr lang="en-IN" sz="2000" dirty="0"/>
              <a:t> Maintain the complete lifecycle of vulnerabilities, including </a:t>
            </a:r>
            <a:r>
              <a:rPr lang="en-IN" sz="2000" b="1" dirty="0"/>
              <a:t>reporting, assigning, remediation, verification, and closure</a:t>
            </a:r>
            <a:r>
              <a:rPr lang="en-IN" sz="2000" dirty="0"/>
              <a:t>, so that every vulnerability can be tracked from identification to resolution. </a:t>
            </a:r>
          </a:p>
          <a:p>
            <a:pPr marL="285750" lvl="0" indent="-285750" algn="just">
              <a:buFont typeface="Arial" panose="020B0604020202020204" pitchFamily="34" charset="0"/>
              <a:buChar char="•"/>
            </a:pPr>
            <a:r>
              <a:rPr lang="en-IN" sz="2000" b="1" dirty="0"/>
              <a:t>Vulnerability Prioritization:</a:t>
            </a:r>
            <a:r>
              <a:rPr lang="en-IN" sz="2000" dirty="0"/>
              <a:t> Classify vulnerabilities based on their </a:t>
            </a:r>
            <a:r>
              <a:rPr lang="en-IN" sz="2000" b="1" dirty="0"/>
              <a:t>severity levels</a:t>
            </a:r>
            <a:r>
              <a:rPr lang="en-IN" sz="2000" dirty="0"/>
              <a:t> and provide clear visibility into critical and high-priority security issues. </a:t>
            </a:r>
          </a:p>
          <a:p>
            <a:pPr marL="285750" lvl="0" indent="-285750" algn="just">
              <a:buFont typeface="Arial" panose="020B0604020202020204" pitchFamily="34" charset="0"/>
              <a:buChar char="•"/>
            </a:pPr>
            <a:r>
              <a:rPr lang="en-IN" sz="2000" b="1" dirty="0"/>
              <a:t>Automated Notifications:</a:t>
            </a:r>
            <a:r>
              <a:rPr lang="en-IN" sz="2000" dirty="0"/>
              <a:t> Generate automated </a:t>
            </a:r>
            <a:r>
              <a:rPr lang="en-IN" sz="2000" b="1" dirty="0"/>
              <a:t>email notifications and alerts</a:t>
            </a:r>
            <a:r>
              <a:rPr lang="en-IN" sz="2000" dirty="0"/>
              <a:t> for new vulnerability assignments, status changes, and approaching remediation deadlines. </a:t>
            </a:r>
          </a:p>
          <a:p>
            <a:pPr marL="285750" lvl="0" indent="-285750" algn="just">
              <a:buFont typeface="Arial" panose="020B0604020202020204" pitchFamily="34" charset="0"/>
              <a:buChar char="•"/>
            </a:pPr>
            <a:r>
              <a:rPr lang="en-IN" sz="2000" b="1" dirty="0"/>
              <a:t>Visual Analytics and Dashboard:</a:t>
            </a:r>
            <a:r>
              <a:rPr lang="en-IN" sz="2000" dirty="0"/>
              <a:t> Provide a centralized dashboard showing the status of </a:t>
            </a:r>
            <a:r>
              <a:rPr lang="en-IN" sz="2000" b="1" dirty="0"/>
              <a:t>open, critical, resolved, and closed vulnerabilities</a:t>
            </a:r>
            <a:r>
              <a:rPr lang="en-IN" sz="2000" dirty="0"/>
              <a:t>, along with reports and visual analytics for better decision-making. </a:t>
            </a:r>
          </a:p>
          <a:p>
            <a:pPr marL="285750" lvl="0" indent="-285750" algn="just">
              <a:buFont typeface="Arial" panose="020B0604020202020204" pitchFamily="34" charset="0"/>
              <a:buChar char="•"/>
            </a:pPr>
            <a:r>
              <a:rPr lang="en-IN" sz="2000" b="1" dirty="0"/>
              <a:t>Audit and Activity Tracking:</a:t>
            </a:r>
            <a:r>
              <a:rPr lang="en-IN" sz="2000" dirty="0"/>
              <a:t> Maintain audit logs of important user and system activities to provide accountability and traceability throughout the vulnerability management process. </a:t>
            </a:r>
          </a:p>
          <a:p>
            <a:pPr marL="285750" lvl="0" indent="-285750" algn="just">
              <a:buFont typeface="Arial" panose="020B0604020202020204" pitchFamily="34" charset="0"/>
              <a:buChar char="•"/>
            </a:pPr>
            <a:r>
              <a:rPr lang="en-IN" sz="2000" b="1" dirty="0"/>
              <a:t>Microservices-Based Architecture:</a:t>
            </a:r>
            <a:r>
              <a:rPr lang="en-IN" sz="2000" dirty="0"/>
              <a:t> Develop the system using independent microservices for authentication, user management, vulnerability tracking, remediation, notification, and auditing to improve </a:t>
            </a:r>
            <a:r>
              <a:rPr lang="en-IN" sz="2000" b="1" dirty="0"/>
              <a:t>modularity, scalability, and maintainability</a:t>
            </a:r>
            <a:r>
              <a:rPr lang="en-IN" sz="2000" dirty="0"/>
              <a:t>. </a:t>
            </a:r>
          </a:p>
        </p:txBody>
      </p:sp>
    </p:spTree>
    <p:extLst>
      <p:ext uri="{BB962C8B-B14F-4D97-AF65-F5344CB8AC3E}">
        <p14:creationId xmlns:p14="http://schemas.microsoft.com/office/powerpoint/2010/main" val="3917782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AACD11AD-3AF5-B626-2B60-0567E4585BB7}"/>
              </a:ext>
            </a:extLst>
          </p:cNvPr>
          <p:cNvGraphicFramePr>
            <a:graphicFrameLocks/>
          </p:cNvGraphicFramePr>
          <p:nvPr>
            <p:extLst>
              <p:ext uri="{D42A27DB-BD31-4B8C-83A1-F6EECF244321}">
                <p14:modId xmlns:p14="http://schemas.microsoft.com/office/powerpoint/2010/main" val="3885439025"/>
              </p:ext>
            </p:extLst>
          </p:nvPr>
        </p:nvGraphicFramePr>
        <p:xfrm>
          <a:off x="274646" y="689466"/>
          <a:ext cx="11642705" cy="5108797"/>
        </p:xfrm>
        <a:graphic>
          <a:graphicData uri="http://schemas.openxmlformats.org/drawingml/2006/table">
            <a:tbl>
              <a:tblPr firstRow="1" bandRow="1">
                <a:tableStyleId>{BC89EF96-8CEA-46FF-86C4-4CE0E7609802}</a:tableStyleId>
              </a:tblPr>
              <a:tblGrid>
                <a:gridCol w="1089006">
                  <a:extLst>
                    <a:ext uri="{9D8B030D-6E8A-4147-A177-3AD203B41FA5}">
                      <a16:colId xmlns:a16="http://schemas.microsoft.com/office/drawing/2014/main" val="20001"/>
                    </a:ext>
                  </a:extLst>
                </a:gridCol>
                <a:gridCol w="2275288">
                  <a:extLst>
                    <a:ext uri="{9D8B030D-6E8A-4147-A177-3AD203B41FA5}">
                      <a16:colId xmlns:a16="http://schemas.microsoft.com/office/drawing/2014/main" val="20002"/>
                    </a:ext>
                  </a:extLst>
                </a:gridCol>
                <a:gridCol w="2476109">
                  <a:extLst>
                    <a:ext uri="{9D8B030D-6E8A-4147-A177-3AD203B41FA5}">
                      <a16:colId xmlns:a16="http://schemas.microsoft.com/office/drawing/2014/main" val="20003"/>
                    </a:ext>
                  </a:extLst>
                </a:gridCol>
                <a:gridCol w="2936588">
                  <a:extLst>
                    <a:ext uri="{9D8B030D-6E8A-4147-A177-3AD203B41FA5}">
                      <a16:colId xmlns:a16="http://schemas.microsoft.com/office/drawing/2014/main" val="20004"/>
                    </a:ext>
                  </a:extLst>
                </a:gridCol>
                <a:gridCol w="2865714">
                  <a:extLst>
                    <a:ext uri="{9D8B030D-6E8A-4147-A177-3AD203B41FA5}">
                      <a16:colId xmlns:a16="http://schemas.microsoft.com/office/drawing/2014/main" val="1396003017"/>
                    </a:ext>
                  </a:extLst>
                </a:gridCol>
              </a:tblGrid>
              <a:tr h="387917">
                <a:tc>
                  <a:txBody>
                    <a:bodyPr/>
                    <a:lstStyle/>
                    <a:p>
                      <a:pPr algn="ctr">
                        <a:buNone/>
                      </a:pPr>
                      <a:r>
                        <a:rPr lang="en-US" dirty="0">
                          <a:solidFill>
                            <a:schemeClr val="tx1"/>
                          </a:solidFill>
                          <a:latin typeface="Times New Roman" pitchFamily="18" charset="0"/>
                          <a:cs typeface="Times New Roman" pitchFamily="18" charset="0"/>
                        </a:rPr>
                        <a:t>Authors</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dirty="0">
                          <a:solidFill>
                            <a:schemeClr val="tx1"/>
                          </a:solidFill>
                          <a:latin typeface="Times New Roman" pitchFamily="18" charset="0"/>
                          <a:cs typeface="Times New Roman" pitchFamily="18" charset="0"/>
                        </a:rPr>
                        <a:t>Title of the Paper</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Methodology</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Inferences</a:t>
                      </a:r>
                    </a:p>
                  </a:txBody>
                  <a:tcPr>
                    <a:solidFill>
                      <a:srgbClr val="FFFF00"/>
                    </a:solidFill>
                  </a:tcPr>
                </a:tc>
                <a:tc>
                  <a:txBody>
                    <a:bodyPr/>
                    <a:lstStyle/>
                    <a:p>
                      <a:pPr algn="ctr">
                        <a:buNone/>
                      </a:pPr>
                      <a:r>
                        <a:rPr lang="en-US" dirty="0">
                          <a:solidFill>
                            <a:schemeClr val="tx1"/>
                          </a:solidFill>
                          <a:latin typeface="Times New Roman" pitchFamily="18" charset="0"/>
                          <a:cs typeface="Times New Roman" pitchFamily="18" charset="0"/>
                        </a:rPr>
                        <a:t>Limitation/Future work</a:t>
                      </a:r>
                    </a:p>
                  </a:txBody>
                  <a:tcPr>
                    <a:solidFill>
                      <a:srgbClr val="FFFF00"/>
                    </a:solidFill>
                  </a:tcPr>
                </a:tc>
                <a:extLst>
                  <a:ext uri="{0D108BD9-81ED-4DB2-BD59-A6C34878D82A}">
                    <a16:rowId xmlns:a16="http://schemas.microsoft.com/office/drawing/2014/main" val="10000"/>
                  </a:ext>
                </a:extLst>
              </a:tr>
              <a:tr h="1541937">
                <a:tc>
                  <a:txBody>
                    <a:bodyPr/>
                    <a:lstStyle/>
                    <a:p>
                      <a:pPr marL="0" algn="l" defTabSz="914400" rtl="0" eaLnBrk="1" latinLnBrk="0" hangingPunct="1"/>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rPr>
                        <a:t>Hilal et. al. [</a:t>
                      </a:r>
                      <a:r>
                        <a:rPr lang="en-IN" sz="1400" b="1" i="0" u="none" kern="1200" dirty="0">
                          <a:solidFill>
                            <a:srgbClr val="FF0000"/>
                          </a:solidFill>
                          <a:effectLst/>
                          <a:latin typeface="Times New Roman" panose="02020603050405020304" pitchFamily="18" charset="0"/>
                          <a:ea typeface="+mn-ea"/>
                          <a:cs typeface="Times New Roman" panose="02020603050405020304" pitchFamily="18" charset="0"/>
                        </a:rPr>
                        <a:t>3</a:t>
                      </a: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rPr>
                        <a:t>]</a:t>
                      </a:r>
                    </a:p>
                  </a:txBody>
                  <a:tcPr/>
                </a:tc>
                <a:tc>
                  <a:txBody>
                    <a:bodyPr/>
                    <a:lstStyle/>
                    <a:p>
                      <a:r>
                        <a:rPr lang="en-IN" sz="1400" b="0" i="0" u="none" strike="noStrike" kern="1200" dirty="0">
                          <a:solidFill>
                            <a:srgbClr val="FF0000"/>
                          </a:solidFill>
                          <a:effectLst/>
                          <a:latin typeface="Times New Roman" panose="02020603050405020304" pitchFamily="18" charset="0"/>
                          <a:ea typeface="+mn-ea"/>
                          <a:cs typeface="Times New Roman" panose="02020603050405020304" pitchFamily="18" charset="0"/>
                        </a:rPr>
                        <a:t>Intelligent Epileptic Seizure Detection and Classification Model Using Optimal Deep Canonical Sparse Autoencoder,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Biology, 2022-mdpi</a:t>
                      </a:r>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Coyote optimization algorithm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(COA) for feature selection </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Krill herd algorithm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(KHA) for parameter tuning</a:t>
                      </a:r>
                      <a:endParaRPr lang="en-US" sz="1400" b="0" i="0"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intelligent deep canonical sparse autoencoder-based epileptic seizure detection and classification model using EEG signals. </a:t>
                      </a:r>
                    </a:p>
                    <a:p>
                      <a:pPr marL="285750" marR="0" indent="-285750" algn="just"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It achieves a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maximum</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accuracy</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of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98.67% </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and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98.73%</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under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binary</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and </a:t>
                      </a:r>
                      <a:r>
                        <a:rPr lang="en-IN" sz="1400" b="1" i="0" kern="1200" dirty="0">
                          <a:solidFill>
                            <a:srgbClr val="FF0000"/>
                          </a:solidFill>
                          <a:effectLst/>
                          <a:latin typeface="Times New Roman" panose="02020603050405020304" pitchFamily="18" charset="0"/>
                          <a:ea typeface="+mn-ea"/>
                          <a:cs typeface="Times New Roman" panose="02020603050405020304" pitchFamily="18" charset="0"/>
                        </a:rPr>
                        <a:t>multi-classification,</a:t>
                      </a:r>
                      <a:r>
                        <a:rPr lang="en-IN" sz="1400" b="0" i="0" kern="1200" dirty="0">
                          <a:solidFill>
                            <a:srgbClr val="FF0000"/>
                          </a:solidFill>
                          <a:effectLst/>
                          <a:latin typeface="Times New Roman" panose="02020603050405020304" pitchFamily="18" charset="0"/>
                          <a:ea typeface="+mn-ea"/>
                          <a:cs typeface="Times New Roman" panose="02020603050405020304" pitchFamily="18" charset="0"/>
                        </a:rPr>
                        <a:t> respectively.</a:t>
                      </a:r>
                      <a:endParaRPr lang="en-US" sz="1400" b="0" i="0"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The paper does not mention the specific limitations of the proposed </a:t>
                      </a:r>
                      <a:r>
                        <a:rPr lang="en-IN" sz="1400" b="1"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DCSAE-ESDC </a:t>
                      </a:r>
                      <a:r>
                        <a:rPr lang="en-IN"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rPr>
                        <a:t>technique or the experimental analysis conducted using the benchmark epileptic seizure dataset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3714155954"/>
                  </a:ext>
                </a:extLst>
              </a:tr>
              <a:tr h="1354600">
                <a:tc>
                  <a:txBody>
                    <a:bodyPr/>
                    <a:lstStyle/>
                    <a:p>
                      <a:pPr marL="0" algn="l" defTabSz="914400" rtl="0" eaLnBrk="1" latinLnBrk="0" hangingPunct="1"/>
                      <a:r>
                        <a:rPr lang="en-IN" sz="1400" dirty="0">
                          <a:solidFill>
                            <a:srgbClr val="FF0000"/>
                          </a:solidFill>
                        </a:rPr>
                        <a:t>Smith et al.</a:t>
                      </a:r>
                      <a:endParaRPr lang="en-IN" sz="1400" b="0"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dirty="0">
                          <a:solidFill>
                            <a:srgbClr val="FF0000"/>
                          </a:solidFill>
                        </a:rPr>
                        <a:t>2023, </a:t>
                      </a:r>
                      <a:r>
                        <a:rPr lang="en-IN" sz="1400" i="1" dirty="0">
                          <a:solidFill>
                            <a:srgbClr val="FF0000"/>
                          </a:solidFill>
                        </a:rPr>
                        <a:t>IEEE Cloud</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Used </a:t>
                      </a:r>
                      <a:r>
                        <a:rPr lang="en-IN" sz="1400" b="1" dirty="0">
                          <a:solidFill>
                            <a:srgbClr val="FF0000"/>
                          </a:solidFill>
                        </a:rPr>
                        <a:t>CVSS scoring</a:t>
                      </a:r>
                      <a:r>
                        <a:rPr lang="en-IN" sz="1400" dirty="0">
                          <a:solidFill>
                            <a:srgbClr val="FF0000"/>
                          </a:solidFill>
                        </a:rPr>
                        <a:t> along with cloud-native API integration for asset discovery and automated ticket generation.</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Automated ticket generation achieved a reported </a:t>
                      </a:r>
                      <a:r>
                        <a:rPr lang="en-IN" sz="1400" b="1" dirty="0">
                          <a:solidFill>
                            <a:srgbClr val="FF0000"/>
                          </a:solidFill>
                        </a:rPr>
                        <a:t>40% reduction in Mean Time to Remediate (MTTR)</a:t>
                      </a:r>
                      <a:r>
                        <a:rPr lang="en-IN" sz="1400" dirty="0">
                          <a:solidFill>
                            <a:srgbClr val="FF0000"/>
                          </a:solidFill>
                        </a:rPr>
                        <a: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solidFill>
                            <a:srgbClr val="FF0000"/>
                          </a:solidFill>
                        </a:rPr>
                        <a:t>Does not provide dynamic risk prioritization using real-time external threat-intelligence feeds.</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655426370"/>
                  </a:ext>
                </a:extLst>
              </a:tr>
              <a:tr h="1354600">
                <a:tc>
                  <a:txBody>
                    <a:bodyPr/>
                    <a:lstStyle/>
                    <a:p>
                      <a:pPr marL="0" algn="l" defTabSz="914400" rtl="0" eaLnBrk="1" latinLnBrk="0" hangingPunct="1"/>
                      <a:r>
                        <a:rPr lang="en-IN" sz="1400" dirty="0">
                          <a:solidFill>
                            <a:srgbClr val="FF0000"/>
                          </a:solidFill>
                        </a:rPr>
                        <a:t>Johnson &amp; Lee</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r>
                        <a:rPr lang="en-IN" sz="1400" dirty="0">
                          <a:solidFill>
                            <a:srgbClr val="FF0000"/>
                          </a:solidFill>
                        </a:rPr>
                        <a:t>2022, </a:t>
                      </a:r>
                      <a:r>
                        <a:rPr lang="en-IN" sz="1400" i="1" dirty="0">
                          <a:solidFill>
                            <a:srgbClr val="FF0000"/>
                          </a:solidFill>
                        </a:rPr>
                        <a:t>ACM Security</a:t>
                      </a:r>
                      <a:endParaRPr lang="en-IN" sz="1400" b="1" i="0" u="none" kern="1200" dirty="0">
                        <a:solidFill>
                          <a:srgbClr val="FF0000"/>
                        </a:solidFill>
                        <a:effectLst/>
                        <a:latin typeface="Times New Roman" panose="02020603050405020304" pitchFamily="18" charset="0"/>
                        <a:ea typeface="+mn-ea"/>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Applied </a:t>
                      </a:r>
                      <a:r>
                        <a:rPr lang="en-IN" sz="1400" b="1" dirty="0">
                          <a:solidFill>
                            <a:srgbClr val="FF0000"/>
                          </a:solidFill>
                        </a:rPr>
                        <a:t>Random Forest classification</a:t>
                      </a:r>
                      <a:r>
                        <a:rPr lang="en-IN" sz="1400" dirty="0">
                          <a:solidFill>
                            <a:srgbClr val="FF0000"/>
                          </a:solidFill>
                        </a:rPr>
                        <a:t> to predict the likelihood of vulnerability exploitation.</a:t>
                      </a:r>
                      <a:endParaRPr lang="en-US" sz="1400" b="0" u="none" kern="1200" dirty="0">
                        <a:solidFill>
                          <a:srgbClr val="FF0000"/>
                        </a:solidFill>
                        <a:effectLst/>
                        <a:latin typeface="Times New Roman" panose="02020603050405020304" pitchFamily="18" charset="0"/>
                        <a:cs typeface="Times New Roman" panose="02020603050405020304" pitchFamily="18" charset="0"/>
                      </a:endParaRPr>
                    </a:p>
                  </a:txBody>
                  <a:tcPr/>
                </a:tc>
                <a:tc>
                  <a:txBody>
                    <a:bodyPr/>
                    <a:lstStyle/>
                    <a:p>
                      <a:pPr marL="285750" marR="0" indent="-285750" algn="l" defTabSz="914400" rtl="0" eaLnBrk="1" latinLnBrk="0" hangingPunct="1">
                        <a:lnSpc>
                          <a:spcPct val="100000"/>
                        </a:lnSpc>
                        <a:spcBef>
                          <a:spcPts val="0"/>
                        </a:spcBef>
                        <a:spcAft>
                          <a:spcPts val="0"/>
                        </a:spcAft>
                        <a:buClr>
                          <a:srgbClr val="000000"/>
                        </a:buClr>
                        <a:buFont typeface="Arial" panose="020B0604020202020204" pitchFamily="34" charset="0"/>
                        <a:buChar char="•"/>
                      </a:pPr>
                      <a:r>
                        <a:rPr lang="en-IN" sz="1400" dirty="0">
                          <a:solidFill>
                            <a:srgbClr val="FF0000"/>
                          </a:solidFill>
                        </a:rPr>
                        <a:t>Categorized vulnerabilities into </a:t>
                      </a:r>
                      <a:r>
                        <a:rPr lang="en-IN" sz="1400" b="1" dirty="0">
                          <a:solidFill>
                            <a:srgbClr val="FF0000"/>
                          </a:solidFill>
                        </a:rPr>
                        <a:t>Critical, High, Medium, and Low</a:t>
                      </a:r>
                      <a:r>
                        <a:rPr lang="en-IN" sz="1400" dirty="0">
                          <a:solidFill>
                            <a:srgbClr val="FF0000"/>
                          </a:solidFill>
                        </a:rPr>
                        <a:t>, achieving about </a:t>
                      </a:r>
                      <a:r>
                        <a:rPr lang="en-IN" sz="1400" b="1" dirty="0">
                          <a:solidFill>
                            <a:srgbClr val="FF0000"/>
                          </a:solidFill>
                        </a:rPr>
                        <a:t>92% prediction accuracy</a:t>
                      </a:r>
                      <a:r>
                        <a:rPr lang="en-IN" sz="1400" dirty="0">
                          <a:solidFill>
                            <a:srgbClr val="FF0000"/>
                          </a:solidFill>
                        </a:rPr>
                        <a:t>.</a:t>
                      </a:r>
                      <a:endParaRPr lang="en-US" sz="1400" b="0"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tc>
                  <a:txBody>
                    <a:bodyPr/>
                    <a:lstStyle/>
                    <a:p>
                      <a:pPr marL="285750" indent="-285750" algn="l" defTabSz="914400" rtl="0" eaLnBrk="1" latinLnBrk="0" hangingPunct="1">
                        <a:buFont typeface="Arial" panose="020B0604020202020204" pitchFamily="34" charset="0"/>
                        <a:buChar char="•"/>
                      </a:pPr>
                      <a:r>
                        <a:rPr lang="en-IN" sz="1400" dirty="0">
                          <a:solidFill>
                            <a:srgbClr val="FF0000"/>
                          </a:solidFill>
                        </a:rPr>
                        <a:t>Requires large and continuously updated datasets to remain accurate against emerging and zero-day threats.</a:t>
                      </a:r>
                      <a:endParaRPr lang="en-US" sz="1400" b="1" i="0" u="none" kern="1200" dirty="0">
                        <a:solidFill>
                          <a:srgbClr val="FF0000"/>
                        </a:solidFill>
                        <a:effectLst/>
                        <a:latin typeface="Times New Roman" panose="02020603050405020304" pitchFamily="18" charset="0"/>
                        <a:ea typeface="+mn-ea"/>
                        <a:cs typeface="Times New Roman" panose="02020603050405020304" pitchFamily="18" charset="0"/>
                        <a:sym typeface="Arial"/>
                      </a:endParaRPr>
                    </a:p>
                  </a:txBody>
                  <a:tcPr/>
                </a:tc>
                <a:extLst>
                  <a:ext uri="{0D108BD9-81ED-4DB2-BD59-A6C34878D82A}">
                    <a16:rowId xmlns:a16="http://schemas.microsoft.com/office/drawing/2014/main" val="2841575018"/>
                  </a:ext>
                </a:extLst>
              </a:tr>
            </a:tbl>
          </a:graphicData>
        </a:graphic>
      </p:graphicFrame>
      <p:sp>
        <p:nvSpPr>
          <p:cNvPr id="2" name="TextBox 1">
            <a:extLst>
              <a:ext uri="{FF2B5EF4-FFF2-40B4-BE49-F238E27FC236}">
                <a16:creationId xmlns:a16="http://schemas.microsoft.com/office/drawing/2014/main" id="{C48F0022-391A-4CFC-2851-87E76B37EAC2}"/>
              </a:ext>
            </a:extLst>
          </p:cNvPr>
          <p:cNvSpPr txBox="1"/>
          <p:nvPr/>
        </p:nvSpPr>
        <p:spPr>
          <a:xfrm>
            <a:off x="4560565" y="136525"/>
            <a:ext cx="3070868" cy="523220"/>
          </a:xfrm>
          <a:prstGeom prst="rect">
            <a:avLst/>
          </a:prstGeom>
          <a:noFill/>
        </p:spPr>
        <p:txBody>
          <a:bodyPr wrap="square" rtlCol="0">
            <a:spAutoFit/>
          </a:bodyPr>
          <a:lstStyle/>
          <a:p>
            <a:pPr algn="ctr"/>
            <a:r>
              <a:rPr lang="en-IN" sz="2800" b="1" dirty="0">
                <a:solidFill>
                  <a:srgbClr val="0064C8"/>
                </a:solidFill>
                <a:latin typeface="Times New Roman" panose="02020603050405020304" pitchFamily="18" charset="0"/>
                <a:ea typeface="Cambria"/>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
        <p:nvSpPr>
          <p:cNvPr id="8" name="Date Placeholder 7">
            <a:extLst>
              <a:ext uri="{FF2B5EF4-FFF2-40B4-BE49-F238E27FC236}">
                <a16:creationId xmlns:a16="http://schemas.microsoft.com/office/drawing/2014/main" id="{A0FDE360-66C4-26CA-5DB9-8E99C2685BE0}"/>
              </a:ext>
            </a:extLst>
          </p:cNvPr>
          <p:cNvSpPr>
            <a:spLocks noGrp="1"/>
          </p:cNvSpPr>
          <p:nvPr>
            <p:ph type="dt" sz="half" idx="10"/>
          </p:nvPr>
        </p:nvSpPr>
        <p:spPr/>
        <p:txBody>
          <a:bodyPr/>
          <a:lstStyle/>
          <a:p>
            <a:endParaRPr lang="en-IN" dirty="0"/>
          </a:p>
        </p:txBody>
      </p:sp>
      <p:sp>
        <p:nvSpPr>
          <p:cNvPr id="9" name="Footer Placeholder 8">
            <a:extLst>
              <a:ext uri="{FF2B5EF4-FFF2-40B4-BE49-F238E27FC236}">
                <a16:creationId xmlns:a16="http://schemas.microsoft.com/office/drawing/2014/main" id="{0F095753-622E-2BA7-9495-60F9B6E57FDB}"/>
              </a:ext>
            </a:extLst>
          </p:cNvPr>
          <p:cNvSpPr>
            <a:spLocks noGrp="1"/>
          </p:cNvSpPr>
          <p:nvPr>
            <p:ph type="ftr" sz="quarter" idx="11"/>
          </p:nvPr>
        </p:nvSpPr>
        <p:spPr/>
        <p:txBody>
          <a:bodyPr/>
          <a:lstStyle/>
          <a:p>
            <a:endParaRPr lang="en-IN" dirty="0"/>
          </a:p>
        </p:txBody>
      </p:sp>
      <p:sp>
        <p:nvSpPr>
          <p:cNvPr id="10" name="Slide Number Placeholder 9">
            <a:extLst>
              <a:ext uri="{FF2B5EF4-FFF2-40B4-BE49-F238E27FC236}">
                <a16:creationId xmlns:a16="http://schemas.microsoft.com/office/drawing/2014/main" id="{09784944-5437-9E89-7017-F3DB9CA914FA}"/>
              </a:ext>
            </a:extLst>
          </p:cNvPr>
          <p:cNvSpPr>
            <a:spLocks noGrp="1"/>
          </p:cNvSpPr>
          <p:nvPr>
            <p:ph type="sldNum" sz="quarter" idx="12"/>
          </p:nvPr>
        </p:nvSpPr>
        <p:spPr/>
        <p:txBody>
          <a:bodyPr/>
          <a:lstStyle/>
          <a:p>
            <a:fld id="{5A3A418F-4DEE-4BB1-940B-1145D135750E}" type="slidenum">
              <a:rPr lang="en-IN" smtClean="0"/>
              <a:t>5</a:t>
            </a:fld>
            <a:endParaRPr lang="en-IN"/>
          </a:p>
        </p:txBody>
      </p:sp>
      <p:pic>
        <p:nvPicPr>
          <p:cNvPr id="6" name="Picture 5">
            <a:extLst>
              <a:ext uri="{FF2B5EF4-FFF2-40B4-BE49-F238E27FC236}">
                <a16:creationId xmlns:a16="http://schemas.microsoft.com/office/drawing/2014/main" id="{CF3EBAEA-8DC6-8F54-F0D6-38F9643BD4B7}"/>
              </a:ext>
            </a:extLst>
          </p:cNvPr>
          <p:cNvPicPr>
            <a:picLocks noChangeAspect="1"/>
          </p:cNvPicPr>
          <p:nvPr/>
        </p:nvPicPr>
        <p:blipFill>
          <a:blip r:embed="rId3"/>
          <a:stretch>
            <a:fillRect/>
          </a:stretch>
        </p:blipFill>
        <p:spPr>
          <a:xfrm>
            <a:off x="10249380" y="0"/>
            <a:ext cx="1942620" cy="622550"/>
          </a:xfrm>
          <a:prstGeom prst="rect">
            <a:avLst/>
          </a:prstGeom>
        </p:spPr>
      </p:pic>
    </p:spTree>
    <p:extLst>
      <p:ext uri="{BB962C8B-B14F-4D97-AF65-F5344CB8AC3E}">
        <p14:creationId xmlns:p14="http://schemas.microsoft.com/office/powerpoint/2010/main" val="3029277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3048000" y="600078"/>
            <a:ext cx="6096000" cy="646331"/>
          </a:xfrm>
          <a:prstGeom prst="rect">
            <a:avLst/>
          </a:prstGeom>
          <a:noFill/>
        </p:spPr>
        <p:txBody>
          <a:bodyPr wrap="square">
            <a:spAutoFit/>
          </a:bodyPr>
          <a:lstStyle/>
          <a:p>
            <a:pPr algn="ctr"/>
            <a:r>
              <a:rPr lang="en-US" sz="3600" b="1" dirty="0"/>
              <a:t>Problem Gap Identification</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D929C009-34C5-E3DA-C4EE-F43A34088DA4}"/>
              </a:ext>
            </a:extLst>
          </p:cNvPr>
          <p:cNvSpPr txBox="1"/>
          <p:nvPr/>
        </p:nvSpPr>
        <p:spPr>
          <a:xfrm>
            <a:off x="2048256" y="1720840"/>
            <a:ext cx="8095488" cy="4093428"/>
          </a:xfrm>
          <a:prstGeom prst="rect">
            <a:avLst/>
          </a:prstGeom>
          <a:noFill/>
        </p:spPr>
        <p:txBody>
          <a:bodyPr wrap="square" rtlCol="0">
            <a:spAutoFit/>
          </a:bodyPr>
          <a:lstStyle/>
          <a:p>
            <a:pPr algn="just"/>
            <a:r>
              <a:rPr lang="en-IN" sz="2000" dirty="0"/>
              <a:t>Traditional vulnerability tracking systems are often developed as </a:t>
            </a:r>
            <a:r>
              <a:rPr lang="en-IN" sz="2000" b="1" dirty="0"/>
              <a:t>large monolithic applications</a:t>
            </a:r>
            <a:r>
              <a:rPr lang="en-IN" sz="2000" dirty="0"/>
              <a:t>, which can become difficult to maintain and scale as the number of security events increases. Updating or modifying individual modules such as authentication, notifications, or vulnerability management can also affect the overall system. Another major gap is the lack of a </a:t>
            </a:r>
            <a:r>
              <a:rPr lang="en-IN" sz="2000" b="1" dirty="0"/>
              <a:t>modular vulnerability management platform</a:t>
            </a:r>
            <a:r>
              <a:rPr lang="en-IN" sz="2000" dirty="0"/>
              <a:t> that can efficiently connect authentication, user management, vulnerability tracking, remediation, and auditing. To address these limitations, the proposed system uses a </a:t>
            </a:r>
            <a:r>
              <a:rPr lang="en-IN" sz="2000" b="1" dirty="0"/>
              <a:t>microservices-based architecture</a:t>
            </a:r>
            <a:r>
              <a:rPr lang="en-IN" sz="2000" dirty="0"/>
              <a:t>, where each major function is developed as an independent service with REST API communication. This approach improves </a:t>
            </a:r>
            <a:r>
              <a:rPr lang="en-IN" sz="2000" b="1" dirty="0"/>
              <a:t>scalability, maintainability, modularity, and flexibility</a:t>
            </a:r>
            <a:r>
              <a:rPr lang="en-IN" sz="2000" dirty="0"/>
              <a:t>, while also reducing data coupling between services. </a:t>
            </a:r>
          </a:p>
        </p:txBody>
      </p:sp>
    </p:spTree>
    <p:extLst>
      <p:ext uri="{BB962C8B-B14F-4D97-AF65-F5344CB8AC3E}">
        <p14:creationId xmlns:p14="http://schemas.microsoft.com/office/powerpoint/2010/main" val="2065876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C6D84-077B-7007-4B63-807557EC63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4387226-F29E-0041-5581-4EF07C7198F1}"/>
              </a:ext>
            </a:extLst>
          </p:cNvPr>
          <p:cNvSpPr txBox="1"/>
          <p:nvPr/>
        </p:nvSpPr>
        <p:spPr>
          <a:xfrm>
            <a:off x="1893060" y="567351"/>
            <a:ext cx="8405879" cy="646331"/>
          </a:xfrm>
          <a:prstGeom prst="rect">
            <a:avLst/>
          </a:prstGeom>
          <a:noFill/>
        </p:spPr>
        <p:txBody>
          <a:bodyPr wrap="square">
            <a:spAutoFit/>
          </a:bodyPr>
          <a:lstStyle/>
          <a:p>
            <a:pPr algn="ctr"/>
            <a:r>
              <a:rPr lang="en-US" sz="3600" b="1" dirty="0"/>
              <a:t>Innovation, Creativity, and Novelty</a:t>
            </a:r>
          </a:p>
        </p:txBody>
      </p:sp>
      <p:pic>
        <p:nvPicPr>
          <p:cNvPr id="3" name="Picture 2">
            <a:extLst>
              <a:ext uri="{FF2B5EF4-FFF2-40B4-BE49-F238E27FC236}">
                <a16:creationId xmlns:a16="http://schemas.microsoft.com/office/drawing/2014/main" id="{1BC5F926-1E4C-4031-B9E9-6A17F126A332}"/>
              </a:ext>
            </a:extLst>
          </p:cNvPr>
          <p:cNvPicPr>
            <a:picLocks noChangeAspect="1"/>
          </p:cNvPicPr>
          <p:nvPr/>
        </p:nvPicPr>
        <p:blipFill>
          <a:blip r:embed="rId2"/>
          <a:stretch>
            <a:fillRect/>
          </a:stretch>
        </p:blipFill>
        <p:spPr>
          <a:xfrm>
            <a:off x="10249380" y="0"/>
            <a:ext cx="1942620" cy="622550"/>
          </a:xfrm>
          <a:prstGeom prst="rect">
            <a:avLst/>
          </a:prstGeom>
        </p:spPr>
      </p:pic>
      <p:sp>
        <p:nvSpPr>
          <p:cNvPr id="2" name="TextBox 1">
            <a:extLst>
              <a:ext uri="{FF2B5EF4-FFF2-40B4-BE49-F238E27FC236}">
                <a16:creationId xmlns:a16="http://schemas.microsoft.com/office/drawing/2014/main" id="{BBF75097-3B85-669A-7B64-5B69D7FC7937}"/>
              </a:ext>
            </a:extLst>
          </p:cNvPr>
          <p:cNvSpPr txBox="1"/>
          <p:nvPr/>
        </p:nvSpPr>
        <p:spPr>
          <a:xfrm>
            <a:off x="2370285" y="1443840"/>
            <a:ext cx="7879095" cy="4708981"/>
          </a:xfrm>
          <a:prstGeom prst="rect">
            <a:avLst/>
          </a:prstGeom>
          <a:noFill/>
        </p:spPr>
        <p:txBody>
          <a:bodyPr wrap="square" rtlCol="0">
            <a:spAutoFit/>
          </a:bodyPr>
          <a:lstStyle/>
          <a:p>
            <a:pPr algn="just"/>
            <a:r>
              <a:rPr lang="en-IN" sz="2000" dirty="0"/>
              <a:t>The proposed </a:t>
            </a:r>
            <a:r>
              <a:rPr lang="en-IN" sz="2000" b="1" dirty="0"/>
              <a:t>Vulnerability Tracking and Remediation System</a:t>
            </a:r>
            <a:r>
              <a:rPr lang="en-IN" sz="2000" dirty="0"/>
              <a:t> introduces a modular and scalable approach by using a </a:t>
            </a:r>
            <a:r>
              <a:rPr lang="en-IN" sz="2000" b="1" dirty="0"/>
              <a:t>microservices-based architecture</a:t>
            </a:r>
            <a:r>
              <a:rPr lang="en-IN" sz="2000" dirty="0"/>
              <a:t> instead of a traditional monolithic design. The system separates authentication, user management, vulnerability tracking, remediation, notification, and auditing into independent services, each with its own database. It uses </a:t>
            </a:r>
            <a:r>
              <a:rPr lang="en-IN" sz="2000" b="1" dirty="0"/>
              <a:t>Spring Cloud Gateway and Eureka</a:t>
            </a:r>
            <a:r>
              <a:rPr lang="en-IN" sz="2000" dirty="0"/>
              <a:t> for API routing and dynamic service discovery, while </a:t>
            </a:r>
            <a:r>
              <a:rPr lang="en-IN" sz="2000" b="1" dirty="0"/>
              <a:t>RabbitMQ</a:t>
            </a:r>
            <a:r>
              <a:rPr lang="en-IN" sz="2000" dirty="0"/>
              <a:t> enables asynchronous communication for notifications and audit activities. This combination provides better scalability, maintainability, and system resilience. The system also combines </a:t>
            </a:r>
            <a:r>
              <a:rPr lang="en-IN" sz="2000" b="1" dirty="0"/>
              <a:t>role-based access control, complete vulnerability lifecycle management, automated notifications, audit logging, and visual analytics</a:t>
            </a:r>
            <a:r>
              <a:rPr lang="en-IN" sz="2000" dirty="0"/>
              <a:t> in a single platform, providing security analysts, developers, and administrators with a unified environment for managing vulnerabilities efficiently. </a:t>
            </a:r>
          </a:p>
        </p:txBody>
      </p:sp>
    </p:spTree>
    <p:extLst>
      <p:ext uri="{BB962C8B-B14F-4D97-AF65-F5344CB8AC3E}">
        <p14:creationId xmlns:p14="http://schemas.microsoft.com/office/powerpoint/2010/main" val="35241353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AA2CC-2C9A-D968-2F38-FFC4A7D238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F7CE10-08D9-83CF-7508-12575531E1E0}"/>
              </a:ext>
            </a:extLst>
          </p:cNvPr>
          <p:cNvSpPr txBox="1"/>
          <p:nvPr/>
        </p:nvSpPr>
        <p:spPr>
          <a:xfrm>
            <a:off x="2615380" y="551058"/>
            <a:ext cx="7234014" cy="707886"/>
          </a:xfrm>
          <a:prstGeom prst="rect">
            <a:avLst/>
          </a:prstGeom>
          <a:noFill/>
        </p:spPr>
        <p:txBody>
          <a:bodyPr wrap="square">
            <a:spAutoFit/>
          </a:bodyPr>
          <a:lstStyle/>
          <a:p>
            <a:pPr algn="ctr"/>
            <a:r>
              <a:rPr lang="en-US" sz="4000" b="1" dirty="0"/>
              <a:t>Feasibility and Project Plan</a:t>
            </a:r>
          </a:p>
        </p:txBody>
      </p:sp>
      <p:sp>
        <p:nvSpPr>
          <p:cNvPr id="2" name="TextBox 1">
            <a:extLst>
              <a:ext uri="{FF2B5EF4-FFF2-40B4-BE49-F238E27FC236}">
                <a16:creationId xmlns:a16="http://schemas.microsoft.com/office/drawing/2014/main" id="{3F0303AA-CEE8-2513-1736-59CB3A5EF8E4}"/>
              </a:ext>
            </a:extLst>
          </p:cNvPr>
          <p:cNvSpPr txBox="1"/>
          <p:nvPr/>
        </p:nvSpPr>
        <p:spPr>
          <a:xfrm>
            <a:off x="1381398" y="1743891"/>
            <a:ext cx="10116039" cy="369332"/>
          </a:xfrm>
          <a:prstGeom prst="rect">
            <a:avLst/>
          </a:prstGeom>
          <a:noFill/>
        </p:spPr>
        <p:txBody>
          <a:bodyPr wrap="none" rtlCol="0">
            <a:spAutoFit/>
          </a:bodyPr>
          <a:lstStyle/>
          <a:p>
            <a:r>
              <a:rPr lang="en-US" b="1" dirty="0">
                <a:solidFill>
                  <a:srgbClr val="FF0000"/>
                </a:solidFill>
              </a:rPr>
              <a:t>TIMELINE CHART FOR EACH PHASE OF YOUR PROJECT SHOULD BE THERE AFTER EXPLANATION</a:t>
            </a:r>
          </a:p>
        </p:txBody>
      </p:sp>
      <p:pic>
        <p:nvPicPr>
          <p:cNvPr id="4" name="Picture 3">
            <a:extLst>
              <a:ext uri="{FF2B5EF4-FFF2-40B4-BE49-F238E27FC236}">
                <a16:creationId xmlns:a16="http://schemas.microsoft.com/office/drawing/2014/main" id="{F971D25F-D310-56FA-A58E-B7B79C7D857D}"/>
              </a:ext>
            </a:extLst>
          </p:cNvPr>
          <p:cNvPicPr>
            <a:picLocks noChangeAspect="1"/>
          </p:cNvPicPr>
          <p:nvPr/>
        </p:nvPicPr>
        <p:blipFill>
          <a:blip r:embed="rId2"/>
          <a:stretch>
            <a:fillRect/>
          </a:stretch>
        </p:blipFill>
        <p:spPr>
          <a:xfrm>
            <a:off x="10249380" y="0"/>
            <a:ext cx="1942620" cy="622550"/>
          </a:xfrm>
          <a:prstGeom prst="rect">
            <a:avLst/>
          </a:prstGeom>
        </p:spPr>
      </p:pic>
      <p:graphicFrame>
        <p:nvGraphicFramePr>
          <p:cNvPr id="3" name="Table 2">
            <a:extLst>
              <a:ext uri="{FF2B5EF4-FFF2-40B4-BE49-F238E27FC236}">
                <a16:creationId xmlns:a16="http://schemas.microsoft.com/office/drawing/2014/main" id="{A45D2461-0F44-F783-D99B-E7B04CFF2B4A}"/>
              </a:ext>
            </a:extLst>
          </p:cNvPr>
          <p:cNvGraphicFramePr>
            <a:graphicFrameLocks noGrp="1"/>
          </p:cNvGraphicFramePr>
          <p:nvPr>
            <p:extLst>
              <p:ext uri="{D42A27DB-BD31-4B8C-83A1-F6EECF244321}">
                <p14:modId xmlns:p14="http://schemas.microsoft.com/office/powerpoint/2010/main" val="4205533264"/>
              </p:ext>
            </p:extLst>
          </p:nvPr>
        </p:nvGraphicFramePr>
        <p:xfrm>
          <a:off x="1181617" y="2380285"/>
          <a:ext cx="10515600" cy="301752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3932042204"/>
                    </a:ext>
                  </a:extLst>
                </a:gridCol>
                <a:gridCol w="3505200">
                  <a:extLst>
                    <a:ext uri="{9D8B030D-6E8A-4147-A177-3AD203B41FA5}">
                      <a16:colId xmlns:a16="http://schemas.microsoft.com/office/drawing/2014/main" val="705716575"/>
                    </a:ext>
                  </a:extLst>
                </a:gridCol>
                <a:gridCol w="3505200">
                  <a:extLst>
                    <a:ext uri="{9D8B030D-6E8A-4147-A177-3AD203B41FA5}">
                      <a16:colId xmlns:a16="http://schemas.microsoft.com/office/drawing/2014/main" val="2713722176"/>
                    </a:ext>
                  </a:extLst>
                </a:gridCol>
              </a:tblGrid>
              <a:tr h="0">
                <a:tc>
                  <a:txBody>
                    <a:bodyPr/>
                    <a:lstStyle/>
                    <a:p>
                      <a:pPr>
                        <a:buNone/>
                      </a:pPr>
                      <a:r>
                        <a:rPr lang="en-IN"/>
                        <a:t>Phase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Activities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Timeline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214678"/>
                  </a:ext>
                </a:extLst>
              </a:tr>
              <a:tr h="0">
                <a:tc>
                  <a:txBody>
                    <a:bodyPr/>
                    <a:lstStyle/>
                    <a:p>
                      <a:pPr>
                        <a:buNone/>
                      </a:pPr>
                      <a:r>
                        <a:rPr lang="en-IN"/>
                        <a:t>Phase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Core Infrastructure, Eureka, API Gateway, Authentication, JWT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7388216"/>
                  </a:ext>
                </a:extLst>
              </a:tr>
              <a:tr h="0">
                <a:tc>
                  <a:txBody>
                    <a:bodyPr/>
                    <a:lstStyle/>
                    <a:p>
                      <a:pPr>
                        <a:buNone/>
                      </a:pPr>
                      <a:r>
                        <a:rPr lang="en-IN"/>
                        <a:t>Phase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User, Vulnerability &amp; Remediation Services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4–6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6615079"/>
                  </a:ext>
                </a:extLst>
              </a:tr>
              <a:tr h="0">
                <a:tc>
                  <a:txBody>
                    <a:bodyPr/>
                    <a:lstStyle/>
                    <a:p>
                      <a:pPr>
                        <a:buNone/>
                      </a:pPr>
                      <a:r>
                        <a:rPr lang="en-IN"/>
                        <a:t>Phase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Notification &amp; Audit Services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8886739"/>
                  </a:ext>
                </a:extLst>
              </a:tr>
              <a:tr h="0">
                <a:tc>
                  <a:txBody>
                    <a:bodyPr/>
                    <a:lstStyle/>
                    <a:p>
                      <a:pPr>
                        <a:buNone/>
                      </a:pPr>
                      <a:r>
                        <a:rPr lang="en-IN"/>
                        <a:t>Phase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React Dashboard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Weeks 9–11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333383"/>
                  </a:ext>
                </a:extLst>
              </a:tr>
              <a:tr h="0">
                <a:tc>
                  <a:txBody>
                    <a:bodyPr/>
                    <a:lstStyle/>
                    <a:p>
                      <a:pPr>
                        <a:buNone/>
                      </a:pPr>
                      <a:r>
                        <a:rPr lang="en-IN"/>
                        <a:t>Phase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a:t>Docker, Kubernetes, CI/CD &amp; Testing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dirty="0"/>
                        <a:t>Weeks 12–14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7659613"/>
                  </a:ext>
                </a:extLst>
              </a:tr>
            </a:tbl>
          </a:graphicData>
        </a:graphic>
      </p:graphicFrame>
    </p:spTree>
    <p:extLst>
      <p:ext uri="{BB962C8B-B14F-4D97-AF65-F5344CB8AC3E}">
        <p14:creationId xmlns:p14="http://schemas.microsoft.com/office/powerpoint/2010/main" val="4118855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1028</Words>
  <Application>Microsoft Office PowerPoint</Application>
  <PresentationFormat>Widescreen</PresentationFormat>
  <Paragraphs>101</Paragraphs>
  <Slides>8</Slides>
  <Notes>3</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8</vt:i4>
      </vt:variant>
    </vt:vector>
  </HeadingPairs>
  <TitlesOfParts>
    <vt:vector size="18" baseType="lpstr">
      <vt:lpstr>Aptos</vt:lpstr>
      <vt:lpstr>Aptos Display</vt:lpstr>
      <vt:lpstr>Arial</vt:lpstr>
      <vt:lpstr>Calibri</vt:lpstr>
      <vt:lpstr>Calibri Light</vt:lpstr>
      <vt:lpstr>Times New Roman</vt:lpstr>
      <vt:lpstr>Urbanist</vt:lpstr>
      <vt:lpstr>Urbanist Medium</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srikanth ch</dc:creator>
  <cp:lastModifiedBy>Pranith Reddy Modalla</cp:lastModifiedBy>
  <cp:revision>33</cp:revision>
  <dcterms:created xsi:type="dcterms:W3CDTF">2026-08-08T06:33:56Z</dcterms:created>
  <dcterms:modified xsi:type="dcterms:W3CDTF">2026-08-28T04:13:25Z</dcterms:modified>
</cp:coreProperties>
</file>
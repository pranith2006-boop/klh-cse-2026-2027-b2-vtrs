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ith Reddy Modalla" userId="73f7e58376f7ff97" providerId="LiveId" clId="{C12DDF46-77FD-4063-B125-4A4850AAFA1F}"/>
    <pc:docChg chg="undo custSel modSld sldOrd">
      <pc:chgData name="Pranith Reddy Modalla" userId="73f7e58376f7ff97" providerId="LiveId" clId="{C12DDF46-77FD-4063-B125-4A4850AAFA1F}" dt="2026-08-28T04:15:12.181" v="52" actId="20577"/>
      <pc:docMkLst>
        <pc:docMk/>
      </pc:docMkLst>
      <pc:sldChg chg="modSp mod">
        <pc:chgData name="Pranith Reddy Modalla" userId="73f7e58376f7ff97" providerId="LiveId" clId="{C12DDF46-77FD-4063-B125-4A4850AAFA1F}" dt="2026-08-28T04:15:12.181" v="52" actId="20577"/>
        <pc:sldMkLst>
          <pc:docMk/>
          <pc:sldMk cId="4118855268" sldId="260"/>
        </pc:sldMkLst>
        <pc:graphicFrameChg chg="modGraphic">
          <ac:chgData name="Pranith Reddy Modalla" userId="73f7e58376f7ff97" providerId="LiveId" clId="{C12DDF46-77FD-4063-B125-4A4850AAFA1F}" dt="2026-08-28T04:15:12.181" v="52" actId="20577"/>
          <ac:graphicFrameMkLst>
            <pc:docMk/>
            <pc:sldMk cId="4118855268" sldId="260"/>
            <ac:graphicFrameMk id="3" creationId="{A45D2461-0F44-F783-D99B-E7B04CFF2B4A}"/>
          </ac:graphicFrameMkLst>
        </pc:graphicFrameChg>
      </pc:sldChg>
      <pc:sldChg chg="ord">
        <pc:chgData name="Pranith Reddy Modalla" userId="73f7e58376f7ff97" providerId="LiveId" clId="{C12DDF46-77FD-4063-B125-4A4850AAFA1F}" dt="2026-08-28T04:15:04.464" v="34" actId="20578"/>
        <pc:sldMkLst>
          <pc:docMk/>
          <pc:sldMk cId="2247602601" sldId="26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99976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28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28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28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28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679049125"/>
              </p:ext>
            </p:extLst>
          </p:nvPr>
        </p:nvGraphicFramePr>
        <p:xfrm>
          <a:off x="8193271" y="4843645"/>
          <a:ext cx="3702050" cy="752368"/>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7357275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a:t>
                      </a:r>
                      <a:r>
                        <a:rPr lang="en-IN" sz="1400" b="0" i="0" u="none" dirty="0">
                          <a:solidFill>
                            <a:srgbClr val="DAFFDE"/>
                          </a:solidFill>
                          <a:latin typeface="Urbanist"/>
                        </a:rPr>
                        <a:t> </a:t>
                      </a:r>
                      <a:r>
                        <a:rPr lang="en-IN" sz="1400" b="0" i="0" u="none" dirty="0" err="1">
                          <a:solidFill>
                            <a:schemeClr val="tx1"/>
                          </a:solidFill>
                          <a:latin typeface="Urbanist"/>
                        </a:rPr>
                        <a:t>Venkateswari</a:t>
                      </a:r>
                      <a:r>
                        <a:rPr lang="en-IN" sz="1400" b="0" i="0" u="none" dirty="0">
                          <a:solidFill>
                            <a:schemeClr val="tx1"/>
                          </a:solidFill>
                          <a:latin typeface="Urbanist"/>
                        </a:rPr>
                        <a:t> </a:t>
                      </a:r>
                      <a:r>
                        <a:rPr lang="en-IN" sz="1400" b="0" i="0" u="none" dirty="0" err="1">
                          <a:solidFill>
                            <a:schemeClr val="tx1"/>
                          </a:solidFill>
                          <a:latin typeface="Urbanist"/>
                        </a:rPr>
                        <a:t>Ketineni</a:t>
                      </a:r>
                      <a:endParaRPr lang="en-US" sz="1400" b="1" dirty="0">
                        <a:solidFill>
                          <a:schemeClr val="tx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 y="810857"/>
            <a:ext cx="12192000" cy="668003"/>
          </a:xfrm>
          <a:prstGeom prst="rect">
            <a:avLst/>
          </a:prstGeom>
          <a:noFill/>
        </p:spPr>
        <p:txBody>
          <a:bodyPr wrap="square">
            <a:spAutoFit/>
          </a:bodyPr>
          <a:lstStyle/>
          <a:p>
            <a:pPr algn="ctr">
              <a:lnSpc>
                <a:spcPts val="4950"/>
              </a:lnSpc>
            </a:pPr>
            <a:r>
              <a:rPr lang="en-IN" sz="2800" dirty="0">
                <a:solidFill>
                  <a:schemeClr val="bg1"/>
                </a:solidFill>
                <a:latin typeface="Urbanist Medium"/>
              </a:rPr>
              <a:t>Vulnerability</a:t>
            </a:r>
            <a:r>
              <a:rPr lang="en-IN" sz="2800" dirty="0">
                <a:solidFill>
                  <a:srgbClr val="F5F5F5"/>
                </a:solidFill>
                <a:latin typeface="Urbanist Medium"/>
              </a:rPr>
              <a:t> Tracking &amp; Remediation System </a:t>
            </a: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
        <p:nvSpPr>
          <p:cNvPr id="3" name="TextBox 2">
            <a:extLst>
              <a:ext uri="{FF2B5EF4-FFF2-40B4-BE49-F238E27FC236}">
                <a16:creationId xmlns:a16="http://schemas.microsoft.com/office/drawing/2014/main" id="{22FC0C6C-66FA-0F1D-FF20-5FB986C9221B}"/>
              </a:ext>
            </a:extLst>
          </p:cNvPr>
          <p:cNvSpPr txBox="1"/>
          <p:nvPr/>
        </p:nvSpPr>
        <p:spPr>
          <a:xfrm>
            <a:off x="8231505" y="5189702"/>
            <a:ext cx="3467100" cy="271998"/>
          </a:xfrm>
          <a:prstGeom prst="rect">
            <a:avLst/>
          </a:prstGeom>
          <a:noFill/>
        </p:spPr>
        <p:txBody>
          <a:bodyPr wrap="square" lIns="0" tIns="0" rIns="0" bIns="0" anchor="t">
            <a:spAutoFit/>
          </a:bodyPr>
          <a:lstStyle/>
          <a:p>
            <a:pPr algn="l">
              <a:lnSpc>
                <a:spcPts val="2250"/>
              </a:lnSpc>
            </a:pPr>
            <a:r>
              <a:rPr sz="1500" b="0" i="0" u="none" dirty="0">
                <a:latin typeface="Urbanist"/>
              </a:rPr>
              <a:t>MODALLA PRANITH REDDY - 2420030158</a:t>
            </a:r>
          </a:p>
        </p:txBody>
      </p:sp>
      <p:sp>
        <p:nvSpPr>
          <p:cNvPr id="6" name="TextBox 5">
            <a:extLst>
              <a:ext uri="{FF2B5EF4-FFF2-40B4-BE49-F238E27FC236}">
                <a16:creationId xmlns:a16="http://schemas.microsoft.com/office/drawing/2014/main" id="{01CE3E00-13BC-025C-769E-F75C7BE31D1B}"/>
              </a:ext>
            </a:extLst>
          </p:cNvPr>
          <p:cNvSpPr txBox="1"/>
          <p:nvPr/>
        </p:nvSpPr>
        <p:spPr>
          <a:xfrm>
            <a:off x="8249793" y="5426303"/>
            <a:ext cx="3467100" cy="271998"/>
          </a:xfrm>
          <a:prstGeom prst="rect">
            <a:avLst/>
          </a:prstGeom>
          <a:noFill/>
        </p:spPr>
        <p:txBody>
          <a:bodyPr wrap="square" lIns="0" tIns="0" rIns="0" bIns="0" anchor="t">
            <a:spAutoFit/>
          </a:bodyPr>
          <a:lstStyle/>
          <a:p>
            <a:pPr algn="l">
              <a:lnSpc>
                <a:spcPts val="2250"/>
              </a:lnSpc>
            </a:pPr>
            <a:r>
              <a:rPr sz="1500" b="0" i="0" u="none" dirty="0">
                <a:latin typeface="Urbanist"/>
              </a:rPr>
              <a:t>V Praneeth - 2420030636</a:t>
            </a:r>
          </a:p>
        </p:txBody>
      </p:sp>
      <p:sp>
        <p:nvSpPr>
          <p:cNvPr id="9" name="TextBox 8">
            <a:extLst>
              <a:ext uri="{FF2B5EF4-FFF2-40B4-BE49-F238E27FC236}">
                <a16:creationId xmlns:a16="http://schemas.microsoft.com/office/drawing/2014/main" id="{3C969DCD-220F-139D-35EE-14B9464BA52E}"/>
              </a:ext>
            </a:extLst>
          </p:cNvPr>
          <p:cNvSpPr txBox="1"/>
          <p:nvPr/>
        </p:nvSpPr>
        <p:spPr>
          <a:xfrm>
            <a:off x="8249793" y="5681192"/>
            <a:ext cx="3467100" cy="271998"/>
          </a:xfrm>
          <a:prstGeom prst="rect">
            <a:avLst/>
          </a:prstGeom>
          <a:noFill/>
        </p:spPr>
        <p:txBody>
          <a:bodyPr wrap="square" lIns="0" tIns="0" rIns="0" bIns="0" anchor="t">
            <a:spAutoFit/>
          </a:bodyPr>
          <a:lstStyle/>
          <a:p>
            <a:pPr algn="l">
              <a:lnSpc>
                <a:spcPts val="2250"/>
              </a:lnSpc>
            </a:pPr>
            <a:r>
              <a:rPr sz="1500" b="0" i="0" u="none" dirty="0">
                <a:latin typeface="Urbanist"/>
              </a:rPr>
              <a:t>Y Karthikeya - 2420030351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B5A78956-5BDB-E0B9-89E9-5089E1D1A6A3}"/>
              </a:ext>
            </a:extLst>
          </p:cNvPr>
          <p:cNvSpPr txBox="1"/>
          <p:nvPr/>
        </p:nvSpPr>
        <p:spPr>
          <a:xfrm>
            <a:off x="1103376" y="1445180"/>
            <a:ext cx="10149840" cy="4708981"/>
          </a:xfrm>
          <a:prstGeom prst="rect">
            <a:avLst/>
          </a:prstGeom>
          <a:noFill/>
        </p:spPr>
        <p:txBody>
          <a:bodyPr wrap="square" rtlCol="0">
            <a:spAutoFit/>
          </a:bodyPr>
          <a:lstStyle/>
          <a:p>
            <a:pPr algn="just"/>
            <a:r>
              <a:rPr lang="en-IN" sz="2000" dirty="0"/>
              <a:t>Organizations face significant challenges in </a:t>
            </a:r>
            <a:r>
              <a:rPr lang="en-IN" sz="2000" b="1" dirty="0"/>
              <a:t>identifying, tracking, prioritizing, and resolving security vulnerabilities</a:t>
            </a:r>
            <a:r>
              <a:rPr lang="en-IN" sz="2000" dirty="0"/>
              <a:t> because these activities are often managed through fragmented and manual workflows. Security analysts may detect and report vulnerabilities, while developers are responsible for fixing them, but the absence of a unified platform creates communication gaps and delays in the remediation process. In addition, vulnerabilities may not be properly classified according to their severity, making it difficult to identify which security issues require immediate attention. Without automated lifecycle tracking, organizations may also lose visibility into whether a vulnerability has been reported, assigned, addressed, verified, or closed. The lack of timely notifications for new assignments, status changes, and approaching remediation deadlines can further increase the risk of critical vulnerabilities being overlooked. Therefore, there is a need for a </a:t>
            </a:r>
            <a:r>
              <a:rPr lang="en-IN" sz="2000" b="1" dirty="0"/>
              <a:t>centralized Vulnerability Tracking and Remediation System</a:t>
            </a:r>
            <a:r>
              <a:rPr lang="en-IN" sz="2000" dirty="0"/>
              <a:t> that brings these activities together, provides clear visibility into vulnerability status and severity, improves communication between security analysts and developers, and helps organizations reduce remediation delays and overall security exposure.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B0928558-25B8-3332-CDAA-520F0D105154}"/>
              </a:ext>
            </a:extLst>
          </p:cNvPr>
          <p:cNvSpPr txBox="1"/>
          <p:nvPr/>
        </p:nvSpPr>
        <p:spPr>
          <a:xfrm>
            <a:off x="651588" y="987748"/>
            <a:ext cx="10888824" cy="5632311"/>
          </a:xfrm>
          <a:prstGeom prst="rect">
            <a:avLst/>
          </a:prstGeom>
          <a:noFill/>
        </p:spPr>
        <p:txBody>
          <a:bodyPr wrap="square" rtlCol="0">
            <a:spAutoFit/>
          </a:bodyPr>
          <a:lstStyle/>
          <a:p>
            <a:pPr marL="285750" lvl="0" indent="-285750" algn="just">
              <a:buFont typeface="Arial" panose="020B0604020202020204" pitchFamily="34" charset="0"/>
              <a:buChar char="•"/>
            </a:pPr>
            <a:r>
              <a:rPr lang="en-IN" sz="2000" b="1" dirty="0"/>
              <a:t>Role-Based Access Control:</a:t>
            </a:r>
            <a:r>
              <a:rPr lang="en-IN" sz="2000" dirty="0"/>
              <a:t> Implement secure role-based access control (RBAC) for </a:t>
            </a:r>
            <a:r>
              <a:rPr lang="en-IN" sz="2000" b="1" dirty="0"/>
              <a:t>Administrators, Security Analysts, and Developers</a:t>
            </a:r>
            <a:r>
              <a:rPr lang="en-IN" sz="2000" dirty="0"/>
              <a:t>, ensuring that each role has appropriate permissions and responsibilities. </a:t>
            </a:r>
          </a:p>
          <a:p>
            <a:pPr marL="285750" lvl="0" indent="-285750" algn="just">
              <a:buFont typeface="Arial" panose="020B0604020202020204" pitchFamily="34" charset="0"/>
              <a:buChar char="•"/>
            </a:pPr>
            <a:r>
              <a:rPr lang="en-IN" sz="2000" b="1" dirty="0"/>
              <a:t>Vulnerability Lifecycle Management:</a:t>
            </a:r>
            <a:r>
              <a:rPr lang="en-IN" sz="2000" dirty="0"/>
              <a:t> Maintain the complete lifecycle of vulnerabilities, including </a:t>
            </a:r>
            <a:r>
              <a:rPr lang="en-IN" sz="2000" b="1" dirty="0"/>
              <a:t>reporting, assigning, remediation, verification, and closure</a:t>
            </a:r>
            <a:r>
              <a:rPr lang="en-IN" sz="2000" dirty="0"/>
              <a:t>, so that every vulnerability can be tracked from identification to resolution. </a:t>
            </a:r>
          </a:p>
          <a:p>
            <a:pPr marL="285750" lvl="0" indent="-285750" algn="just">
              <a:buFont typeface="Arial" panose="020B0604020202020204" pitchFamily="34" charset="0"/>
              <a:buChar char="•"/>
            </a:pPr>
            <a:r>
              <a:rPr lang="en-IN" sz="2000" b="1" dirty="0"/>
              <a:t>Vulnerability Prioritization:</a:t>
            </a:r>
            <a:r>
              <a:rPr lang="en-IN" sz="2000" dirty="0"/>
              <a:t> Classify vulnerabilities based on their </a:t>
            </a:r>
            <a:r>
              <a:rPr lang="en-IN" sz="2000" b="1" dirty="0"/>
              <a:t>severity levels</a:t>
            </a:r>
            <a:r>
              <a:rPr lang="en-IN" sz="2000" dirty="0"/>
              <a:t> and provide clear visibility into critical and high-priority security issues. </a:t>
            </a:r>
          </a:p>
          <a:p>
            <a:pPr marL="285750" lvl="0" indent="-285750" algn="just">
              <a:buFont typeface="Arial" panose="020B0604020202020204" pitchFamily="34" charset="0"/>
              <a:buChar char="•"/>
            </a:pPr>
            <a:r>
              <a:rPr lang="en-IN" sz="2000" b="1" dirty="0"/>
              <a:t>Automated Notifications:</a:t>
            </a:r>
            <a:r>
              <a:rPr lang="en-IN" sz="2000" dirty="0"/>
              <a:t> Generate automated </a:t>
            </a:r>
            <a:r>
              <a:rPr lang="en-IN" sz="2000" b="1" dirty="0"/>
              <a:t>email notifications and alerts</a:t>
            </a:r>
            <a:r>
              <a:rPr lang="en-IN" sz="2000" dirty="0"/>
              <a:t> for new vulnerability assignments, status changes, and approaching remediation deadlines. </a:t>
            </a:r>
          </a:p>
          <a:p>
            <a:pPr marL="285750" lvl="0" indent="-285750" algn="just">
              <a:buFont typeface="Arial" panose="020B0604020202020204" pitchFamily="34" charset="0"/>
              <a:buChar char="•"/>
            </a:pPr>
            <a:r>
              <a:rPr lang="en-IN" sz="2000" b="1" dirty="0"/>
              <a:t>Visual Analytics and Dashboard:</a:t>
            </a:r>
            <a:r>
              <a:rPr lang="en-IN" sz="2000" dirty="0"/>
              <a:t> Provide a centralized dashboard showing the status of </a:t>
            </a:r>
            <a:r>
              <a:rPr lang="en-IN" sz="2000" b="1" dirty="0"/>
              <a:t>open, critical, resolved, and closed vulnerabilities</a:t>
            </a:r>
            <a:r>
              <a:rPr lang="en-IN" sz="2000" dirty="0"/>
              <a:t>, along with reports and visual analytics for better decision-making. </a:t>
            </a:r>
          </a:p>
          <a:p>
            <a:pPr marL="285750" lvl="0" indent="-285750" algn="just">
              <a:buFont typeface="Arial" panose="020B0604020202020204" pitchFamily="34" charset="0"/>
              <a:buChar char="•"/>
            </a:pPr>
            <a:r>
              <a:rPr lang="en-IN" sz="2000" b="1" dirty="0"/>
              <a:t>Audit and Activity Tracking:</a:t>
            </a:r>
            <a:r>
              <a:rPr lang="en-IN" sz="2000" dirty="0"/>
              <a:t> Maintain audit logs of important user and system activities to provide accountability and traceability throughout the vulnerability management process. </a:t>
            </a:r>
          </a:p>
          <a:p>
            <a:pPr marL="285750" lvl="0" indent="-285750" algn="just">
              <a:buFont typeface="Arial" panose="020B0604020202020204" pitchFamily="34" charset="0"/>
              <a:buChar char="•"/>
            </a:pPr>
            <a:r>
              <a:rPr lang="en-IN" sz="2000" b="1" dirty="0"/>
              <a:t>Microservices-Based Architecture:</a:t>
            </a:r>
            <a:r>
              <a:rPr lang="en-IN" sz="2000" dirty="0"/>
              <a:t> Develop the system using independent microservices for authentication, user management, vulnerability tracking, remediation, notification, and auditing to improve </a:t>
            </a:r>
            <a:r>
              <a:rPr lang="en-IN" sz="2000" b="1" dirty="0"/>
              <a:t>modularity, scalability, and maintainability</a:t>
            </a:r>
            <a:r>
              <a:rPr lang="en-IN" sz="2000" dirty="0"/>
              <a:t>. </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885439025"/>
              </p:ext>
            </p:extLst>
          </p:nvPr>
        </p:nvGraphicFramePr>
        <p:xfrm>
          <a:off x="274646" y="689466"/>
          <a:ext cx="11642705" cy="510879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solidFill>
                            <a:schemeClr val="tx1"/>
                          </a:solidFill>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chemeClr val="tx1"/>
                          </a:solidFill>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solidFill>
                            <a:schemeClr val="tx1"/>
                          </a:solidFill>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solidFill>
                            <a:schemeClr val="tx1"/>
                          </a:solidFill>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solidFill>
                            <a:schemeClr val="tx1"/>
                          </a:solidFill>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Hilal et. al.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3</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t>
                      </a:r>
                    </a:p>
                  </a:txBody>
                  <a:tcPr/>
                </a:tc>
                <a:tc>
                  <a:txBody>
                    <a:bodyPr/>
                    <a:lstStyle/>
                    <a:p>
                      <a:r>
                        <a:rPr lang="en-IN"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Intelligent Epileptic Seizure Detection and Classification Model Using Optimal Deep Canonical Sparse Autoencoder,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Biology, 2022-mdpi</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Coyote optimization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(COA) for feature selection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Krill herd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(KHA) for parameter tuning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intelligent deep canonical sparse autoencoder-based epileptic seizure detection and classification model using EEG signals.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It achieves a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maximum</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accuracy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of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98.67%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98.73%</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under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binary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multi-classification,</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respectively.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paper does not mention the specific limitations of the proposed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DCSAE-ESDC </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technique or the experimental analysis conducted using the benchmark epileptic seizure dataset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rPr>
                        <a:t>Smith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2023, </a:t>
                      </a:r>
                      <a:r>
                        <a:rPr lang="en-IN" sz="1400" i="1" dirty="0">
                          <a:solidFill>
                            <a:srgbClr val="FF0000"/>
                          </a:solidFill>
                        </a:rPr>
                        <a:t>IEEE Cloud</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Used </a:t>
                      </a:r>
                      <a:r>
                        <a:rPr lang="en-IN" sz="1400" b="1" dirty="0">
                          <a:solidFill>
                            <a:srgbClr val="FF0000"/>
                          </a:solidFill>
                        </a:rPr>
                        <a:t>CVSS scoring</a:t>
                      </a:r>
                      <a:r>
                        <a:rPr lang="en-IN" sz="1400" dirty="0">
                          <a:solidFill>
                            <a:srgbClr val="FF0000"/>
                          </a:solidFill>
                        </a:rPr>
                        <a:t> along with cloud-native API integration for asset discovery and automated ticket generation.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Automated ticket generation achieved a reported </a:t>
                      </a:r>
                      <a:r>
                        <a:rPr lang="en-IN" sz="1400" b="1" dirty="0">
                          <a:solidFill>
                            <a:srgbClr val="FF0000"/>
                          </a:solidFill>
                        </a:rPr>
                        <a:t>40% reduction in Mean Time to Remediate (MTTR)</a:t>
                      </a:r>
                      <a:r>
                        <a:rPr lang="en-IN" sz="1400" dirty="0">
                          <a:solidFill>
                            <a:srgbClr val="FF0000"/>
                          </a:solidFill>
                        </a:rPr>
                        <a: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Does not provide dynamic risk prioritization using real-time external threat-intelligence feeds.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rPr>
                        <a:t>Johnson &amp; Lee</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2022, </a:t>
                      </a:r>
                      <a:r>
                        <a:rPr lang="en-IN" sz="1400" i="1" dirty="0">
                          <a:solidFill>
                            <a:srgbClr val="FF0000"/>
                          </a:solidFill>
                        </a:rPr>
                        <a:t>ACM Security</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Applied </a:t>
                      </a:r>
                      <a:r>
                        <a:rPr lang="en-IN" sz="1400" b="1" dirty="0">
                          <a:solidFill>
                            <a:srgbClr val="FF0000"/>
                          </a:solidFill>
                        </a:rPr>
                        <a:t>Random Forest classification</a:t>
                      </a:r>
                      <a:r>
                        <a:rPr lang="en-IN" sz="1400" dirty="0">
                          <a:solidFill>
                            <a:srgbClr val="FF0000"/>
                          </a:solidFill>
                        </a:rPr>
                        <a:t> to predict the likelihood of vulnerability exploitation.</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Categorized vulnerabilities into </a:t>
                      </a:r>
                      <a:r>
                        <a:rPr lang="en-IN" sz="1400" b="1" dirty="0">
                          <a:solidFill>
                            <a:srgbClr val="FF0000"/>
                          </a:solidFill>
                        </a:rPr>
                        <a:t>Critical, High, Medium, and Low</a:t>
                      </a:r>
                      <a:r>
                        <a:rPr lang="en-IN" sz="1400" dirty="0">
                          <a:solidFill>
                            <a:srgbClr val="FF0000"/>
                          </a:solidFill>
                        </a:rPr>
                        <a:t>, achieving about </a:t>
                      </a:r>
                      <a:r>
                        <a:rPr lang="en-IN" sz="1400" b="1" dirty="0">
                          <a:solidFill>
                            <a:srgbClr val="FF0000"/>
                          </a:solidFill>
                        </a:rPr>
                        <a:t>92% prediction accuracy</a:t>
                      </a:r>
                      <a:r>
                        <a:rPr lang="en-IN" sz="1400" dirty="0">
                          <a:solidFill>
                            <a:srgbClr val="FF0000"/>
                          </a:solidFill>
                        </a:rPr>
                        <a: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Requires large and continuously updated datasets to remain accurate against emerging and zero-day threats.</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929C009-34C5-E3DA-C4EE-F43A34088DA4}"/>
              </a:ext>
            </a:extLst>
          </p:cNvPr>
          <p:cNvSpPr txBox="1"/>
          <p:nvPr/>
        </p:nvSpPr>
        <p:spPr>
          <a:xfrm>
            <a:off x="2048256" y="1720840"/>
            <a:ext cx="8095488" cy="4093428"/>
          </a:xfrm>
          <a:prstGeom prst="rect">
            <a:avLst/>
          </a:prstGeom>
          <a:noFill/>
        </p:spPr>
        <p:txBody>
          <a:bodyPr wrap="square" rtlCol="0">
            <a:spAutoFit/>
          </a:bodyPr>
          <a:lstStyle/>
          <a:p>
            <a:pPr algn="just"/>
            <a:r>
              <a:rPr lang="en-IN" sz="2000" dirty="0"/>
              <a:t>Traditional vulnerability tracking systems are often developed as </a:t>
            </a:r>
            <a:r>
              <a:rPr lang="en-IN" sz="2000" b="1" dirty="0"/>
              <a:t>large monolithic applications</a:t>
            </a:r>
            <a:r>
              <a:rPr lang="en-IN" sz="2000" dirty="0"/>
              <a:t>, which can become difficult to maintain and scale as the number of security events increases. Updating or modifying individual modules such as authentication, notifications, or vulnerability management can also affect the overall system. Another major gap is the lack of a </a:t>
            </a:r>
            <a:r>
              <a:rPr lang="en-IN" sz="2000" b="1" dirty="0"/>
              <a:t>modular vulnerability management platform</a:t>
            </a:r>
            <a:r>
              <a:rPr lang="en-IN" sz="2000" dirty="0"/>
              <a:t> that can efficiently connect authentication, user management, vulnerability tracking, remediation, and auditing. To address these limitations, the proposed system uses a </a:t>
            </a:r>
            <a:r>
              <a:rPr lang="en-IN" sz="2000" b="1" dirty="0"/>
              <a:t>microservices-based architecture</a:t>
            </a:r>
            <a:r>
              <a:rPr lang="en-IN" sz="2000" dirty="0"/>
              <a:t>, where each major function is developed as an independent service with REST API communication. This approach improves </a:t>
            </a:r>
            <a:r>
              <a:rPr lang="en-IN" sz="2000" b="1" dirty="0"/>
              <a:t>scalability, maintainability, modularity, and flexibility</a:t>
            </a:r>
            <a:r>
              <a:rPr lang="en-IN" sz="2000" dirty="0"/>
              <a:t>, while also reducing data coupling between services. </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BBF75097-3B85-669A-7B64-5B69D7FC7937}"/>
              </a:ext>
            </a:extLst>
          </p:cNvPr>
          <p:cNvSpPr txBox="1"/>
          <p:nvPr/>
        </p:nvSpPr>
        <p:spPr>
          <a:xfrm>
            <a:off x="2370285" y="1443840"/>
            <a:ext cx="7879095" cy="4708981"/>
          </a:xfrm>
          <a:prstGeom prst="rect">
            <a:avLst/>
          </a:prstGeom>
          <a:noFill/>
        </p:spPr>
        <p:txBody>
          <a:bodyPr wrap="square" rtlCol="0">
            <a:spAutoFit/>
          </a:bodyPr>
          <a:lstStyle/>
          <a:p>
            <a:pPr algn="just"/>
            <a:r>
              <a:rPr lang="en-IN" sz="2000" dirty="0"/>
              <a:t>The proposed </a:t>
            </a:r>
            <a:r>
              <a:rPr lang="en-IN" sz="2000" b="1" dirty="0"/>
              <a:t>Vulnerability Tracking and Remediation System</a:t>
            </a:r>
            <a:r>
              <a:rPr lang="en-IN" sz="2000" dirty="0"/>
              <a:t> introduces a modular and scalable approach by using a </a:t>
            </a:r>
            <a:r>
              <a:rPr lang="en-IN" sz="2000" b="1" dirty="0"/>
              <a:t>microservices-based architecture</a:t>
            </a:r>
            <a:r>
              <a:rPr lang="en-IN" sz="2000" dirty="0"/>
              <a:t> instead of a traditional monolithic design. The system separates authentication, user management, vulnerability tracking, remediation, notification, and auditing into independent services, each with its own database. It uses </a:t>
            </a:r>
            <a:r>
              <a:rPr lang="en-IN" sz="2000" b="1" dirty="0"/>
              <a:t>Spring Cloud Gateway and Eureka</a:t>
            </a:r>
            <a:r>
              <a:rPr lang="en-IN" sz="2000" dirty="0"/>
              <a:t> for API routing and dynamic service discovery, while </a:t>
            </a:r>
            <a:r>
              <a:rPr lang="en-IN" sz="2000" b="1" dirty="0"/>
              <a:t>RabbitMQ</a:t>
            </a:r>
            <a:r>
              <a:rPr lang="en-IN" sz="2000" dirty="0"/>
              <a:t> enables asynchronous communication for notifications and audit activities. This combination provides better scalability, maintainability, and system resilience. The system also combines </a:t>
            </a:r>
            <a:r>
              <a:rPr lang="en-IN" sz="2000" b="1" dirty="0"/>
              <a:t>role-based access control, complete vulnerability lifecycle management, automated notifications, audit logging, and visual analytics</a:t>
            </a:r>
            <a:r>
              <a:rPr lang="en-IN" sz="2000" dirty="0"/>
              <a:t> in a single platform, providing security analysts, developers, and administrators with a unified environment for managing vulnerabilities efficiently. </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dirty="0">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A45D2461-0F44-F783-D99B-E7B04CFF2B4A}"/>
              </a:ext>
            </a:extLst>
          </p:cNvPr>
          <p:cNvGraphicFramePr>
            <a:graphicFrameLocks noGrp="1"/>
          </p:cNvGraphicFramePr>
          <p:nvPr>
            <p:extLst>
              <p:ext uri="{D42A27DB-BD31-4B8C-83A1-F6EECF244321}">
                <p14:modId xmlns:p14="http://schemas.microsoft.com/office/powerpoint/2010/main" val="2776030907"/>
              </p:ext>
            </p:extLst>
          </p:nvPr>
        </p:nvGraphicFramePr>
        <p:xfrm>
          <a:off x="1181617" y="2380285"/>
          <a:ext cx="10515600" cy="32918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932042204"/>
                    </a:ext>
                  </a:extLst>
                </a:gridCol>
                <a:gridCol w="3505200">
                  <a:extLst>
                    <a:ext uri="{9D8B030D-6E8A-4147-A177-3AD203B41FA5}">
                      <a16:colId xmlns:a16="http://schemas.microsoft.com/office/drawing/2014/main" val="705716575"/>
                    </a:ext>
                  </a:extLst>
                </a:gridCol>
                <a:gridCol w="3505200">
                  <a:extLst>
                    <a:ext uri="{9D8B030D-6E8A-4147-A177-3AD203B41FA5}">
                      <a16:colId xmlns:a16="http://schemas.microsoft.com/office/drawing/2014/main" val="2713722176"/>
                    </a:ext>
                  </a:extLst>
                </a:gridCol>
              </a:tblGrid>
              <a:tr h="0">
                <a:tc>
                  <a:txBody>
                    <a:bodyPr/>
                    <a:lstStyle/>
                    <a:p>
                      <a:pPr>
                        <a:buNone/>
                      </a:pPr>
                      <a:r>
                        <a:rPr lang="en-IN"/>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Timeline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14678"/>
                  </a:ext>
                </a:extLst>
              </a:tr>
              <a:tr h="0">
                <a:tc>
                  <a:txBody>
                    <a:bodyPr/>
                    <a:lstStyle/>
                    <a:p>
                      <a:pPr>
                        <a:buNone/>
                      </a:pPr>
                      <a:r>
                        <a:rPr lang="en-IN"/>
                        <a:t>Phase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Core Infrastructure, Eureka, API Gateway, Authentication, JWT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Weeks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7388216"/>
                  </a:ext>
                </a:extLst>
              </a:tr>
              <a:tr h="0">
                <a:tc>
                  <a:txBody>
                    <a:bodyPr/>
                    <a:lstStyle/>
                    <a:p>
                      <a:pPr>
                        <a:buNone/>
                      </a:pPr>
                      <a:r>
                        <a:rPr lang="en-IN"/>
                        <a:t>Phase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User, Vulnerability &amp; Remediation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Weeks 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6615079"/>
                  </a:ext>
                </a:extLst>
              </a:tr>
              <a:tr h="0">
                <a:tc>
                  <a:txBody>
                    <a:bodyPr/>
                    <a:lstStyle/>
                    <a:p>
                      <a:pPr>
                        <a:buNone/>
                      </a:pPr>
                      <a:r>
                        <a:rPr lang="en-IN"/>
                        <a:t>Phase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RabbitMQ, Notification &amp; Audit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Weeks 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8886739"/>
                  </a:ext>
                </a:extLst>
              </a:tr>
              <a:tr h="0">
                <a:tc>
                  <a:txBody>
                    <a:bodyPr/>
                    <a:lstStyle/>
                    <a:p>
                      <a:pPr>
                        <a:buNone/>
                      </a:pPr>
                      <a:r>
                        <a:rPr lang="en-IN"/>
                        <a:t>Phase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React Dashboard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Weeks 9–11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33383"/>
                  </a:ext>
                </a:extLst>
              </a:tr>
              <a:tr h="0">
                <a:tc>
                  <a:txBody>
                    <a:bodyPr/>
                    <a:lstStyle/>
                    <a:p>
                      <a:pPr>
                        <a:buNone/>
                      </a:pPr>
                      <a:r>
                        <a:rPr lang="en-IN"/>
                        <a:t>Phase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Docker, Kubernetes, CI/CD &amp;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Weeks 12–14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7659613"/>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1030</Words>
  <Application>Microsoft Office PowerPoint</Application>
  <PresentationFormat>Widescreen</PresentationFormat>
  <Paragraphs>101</Paragraphs>
  <Slides>8</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vt:i4>
      </vt:variant>
    </vt:vector>
  </HeadingPairs>
  <TitlesOfParts>
    <vt:vector size="18" baseType="lpstr">
      <vt:lpstr>Aptos</vt:lpstr>
      <vt:lpstr>Aptos Display</vt:lpstr>
      <vt:lpstr>Arial</vt:lpstr>
      <vt:lpstr>Calibri</vt:lpstr>
      <vt:lpstr>Calibri Light</vt:lpstr>
      <vt:lpstr>Times New Roman</vt:lpstr>
      <vt:lpstr>Urbanist</vt:lpstr>
      <vt:lpstr>Urbanist Medium</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Pranith Reddy Modalla</cp:lastModifiedBy>
  <cp:revision>33</cp:revision>
  <dcterms:created xsi:type="dcterms:W3CDTF">2026-08-08T06:33:56Z</dcterms:created>
  <dcterms:modified xsi:type="dcterms:W3CDTF">2026-08-28T04:15:14Z</dcterms:modified>
</cp:coreProperties>
</file>